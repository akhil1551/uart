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9" r:id="rId4"/>
    <p:sldId id="260" r:id="rId5"/>
    <p:sldId id="261" r:id="rId6"/>
    <p:sldId id="262" r:id="rId7"/>
    <p:sldId id="263" r:id="rId8"/>
    <p:sldId id="265" r:id="rId9"/>
    <p:sldId id="267" r:id="rId10"/>
    <p:sldId id="268" r:id="rId11"/>
    <p:sldId id="269" r:id="rId12"/>
    <p:sldId id="271" r:id="rId13"/>
    <p:sldId id="272" r:id="rId14"/>
    <p:sldId id="273" r:id="rId15"/>
    <p:sldId id="277" r:id="rId16"/>
    <p:sldId id="278" r:id="rId17"/>
    <p:sldId id="279" r:id="rId18"/>
    <p:sldId id="280" r:id="rId19"/>
    <p:sldId id="286" r:id="rId20"/>
    <p:sldId id="283" r:id="rId21"/>
    <p:sldId id="28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8EBF255-FFE2-E587-8386-16858D789EE3}">
          <p14:sldIdLst>
            <p14:sldId id="256"/>
            <p14:sldId id="257"/>
          </p14:sldIdLst>
        </p14:section>
        <p14:section name="UART basics" id="{CE4DAEED-522D-58D5-83DA-10F9A61B8534}">
          <p14:sldIdLst>
            <p14:sldId id="259"/>
            <p14:sldId id="260"/>
            <p14:sldId id="261"/>
            <p14:sldId id="262"/>
            <p14:sldId id="263"/>
          </p14:sldIdLst>
        </p14:section>
        <p14:section name="Specifications" id="{DA6B4436-4478-9EC6-3041-E44F10D8873A}">
          <p14:sldIdLst/>
        </p14:section>
        <p14:section name="Architecture" id="{25B113B7-75B8-BBAB-0F4C-59C2B03FB8E2}">
          <p14:sldIdLst>
            <p14:sldId id="265"/>
          </p14:sldIdLst>
        </p14:section>
        <p14:section name="Module design" id="{8735D0E9-0BA1-5F00-C603-B1CA6212AD7A}">
          <p14:sldIdLst>
            <p14:sldId id="267"/>
            <p14:sldId id="268"/>
            <p14:sldId id="269"/>
            <p14:sldId id="271"/>
            <p14:sldId id="272"/>
          </p14:sldIdLst>
        </p14:section>
        <p14:section name="Error detection" id="{33F3AE86-9BE5-67F2-C22B-F50BCE165FFD}">
          <p14:sldIdLst>
            <p14:sldId id="273"/>
          </p14:sldIdLst>
        </p14:section>
        <p14:section name="Integration" id="{04B5C200-27CB-E55D-C445-8B29844FAA08}">
          <p14:sldIdLst>
            <p14:sldId id="277"/>
          </p14:sldIdLst>
        </p14:section>
        <p14:section name="Verification" id="{0B75B077-1CCE-1AAA-63C6-4F7ABCA06E0E}">
          <p14:sldIdLst>
            <p14:sldId id="278"/>
            <p14:sldId id="279"/>
          </p14:sldIdLst>
        </p14:section>
        <p14:section name="Results" id="{9213B9A7-D6D2-C3AA-FCDF-F99C40A4CB88}">
          <p14:sldIdLst>
            <p14:sldId id="280"/>
            <p14:sldId id="286"/>
          </p14:sldIdLst>
        </p14:section>
        <p14:section name="Wrap-up" id="{C52DF36F-3659-E8EA-F935-AD9C2F7C3160}">
          <p14:sldIdLst>
            <p14:sldId id="283"/>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8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03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members of the panel. My project is the design and verification of a UART controller written in Verilog. In the next twenty minutes I'll explain what a UART is and how it communicates without a clock, then walk through the architecture I built, each Verilog module, the error-detection logic, and finally the testbench and the simulation results. Many slides use diagrams and waveforms taken straight from simulation, so you can see the behaviour rather than just hear it described.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we'll take. The first three sections build the theory: what problem a UART solves and how it moves data. Sections four to eight cover my design, from specifications down to individual modules and registers. Section nine is verification, where I show the test plan and actual simulation output. The diagrams and waveforms throughout come from the design itself and its simulation.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UART is a converter. Inside a chip, data moves in parallel, eight bits at once on a bus. A UART takes a byte, sends it out one bit at a time on a single wire, and the UART at the other end rebuilds the byte. The name explains the features. It's universal because the frame format and speed are configurable. It's asynchronous because no clock travels with the data. The comparison table shows the trade-off: UART uses the fewest wires and needs no clock, but it's point-to-point and slower than SPI. That combination is why nearly every microcontroller and FPGA board still includes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In SPI, the master sends a clock and the slave samples on its edges, so timing comes for free. A UART has no clock wire. Instead, both sides are set to the same baud rate in advance, and each runs from its own oscillator. Because two oscillators never match exactly, the receiver can't stay aligned forever. The trick is that it doesn't need to. Every frame begins with a start bit, and its falling edge restarts the receiver's timing. Clock error can only build up across one frame of about ten bits. The cost is overhead: at least two of every ten bits on the wire carry no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frame for 0x4B with even parity. Read the waveform left to right. The line idles high. The start bit pulls it low. Then the eight data bits go out least significant bit first, so 0x4B, which is 0100 1011, appears as 1, 1, 0, 1, 0, 0, 1, 0. The byte has four ones, so even parity adds a 0 to keep the count even. The stop bit returns the line high. Consider 0x00: it shows why the stop bit matters, because without it a zero byte would be indistinguishable from a line that's simply held low. The efficiency figure shows how much of the line carries real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has a specific job. The start bit is always zero, and its falling edge is the only timing reference the receiver gets. The data bits follow, least significant first; my design fixes this at eight. Parity is optional, and in my controller it's selectable as none, even or odd through the control register. The stop bit is always one; it puts the line back to idle so the next start bit produces a clean falling edge. Datasheets summarise all this with notation like 8N1, which is the default almost everywhere.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baud rate is how many bits per second go on the wire. My design runs on a 50 megahertz clock. To make 115,200 baud with 16 times oversampling, the divisor is 50 million divided by 16 times 115,200, which is 27.13. Hardware can only count whole numbers, so I program 27. The actual rate becomes about 115,741 baud, 0.47 percent fast, well inside the plus or minus 2 percent budget. The table shows the same calculation for other rates. At 921,600 baud the error jumps to about 13 percent, which shows why high baud rates need a higher clock or a fractional divider. That's listed in my future scope.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architecture. On the left, the system bus, the CPU or testbench, talks to the register interface. The transmit path runs along the top: writes go into the TX FIFO, the transmitter takes bytes from it and drives the TXD pin. The receive path runs along the bottom, right to left: the RXD pin enters a two-flip-flop synchronizer, the receiver rebuilds bytes and stores them in the RX FIFO. The baud generator in the middle paces both paths with a tick signal. The dashed line is the loopback path. The legend below the diagram summarises each block's role.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baud generator is the smallest module, but every other module depends on it. It's a 16-bit counter that counts up to the divisor minus one and then wraps. On the wrap cycle it raises tick for one clock. With a divisor of 27, that's one tick every 27 clocks, or 540 nanoseconds, giving 16 ticks per bit at 115,200 baud. One design decision I want to highlight: tick is an enable signal, not a divided clock. All flip-flops in the design stay on the main 50 megahertz clock, and they simply act only when tick is high. Generating a slow clock from logic would create clock skew and make timing analysis unreliable.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transmitter is a five-state machine: IDLE, START, DATA, PARITY and STOP. Each bit period on the waveform is sixteen ticks in hardware. In IDLE the line is high. When the FIFO has a byte, the FSM loads the shift register, computes parity with a reduction XOR, and moves to START, driving zero. In DATA it drives bit zero of the shift register and, after sixteen ticks, shifts right, so the next bit moves into position. The bit counter b_cnt counts to seven. Then PARITY, if enabled, and STOP, which drives one. The shift register empties from the right as each bit goes 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transmitter code. The structure is one clocked always block with a case statement for the state machine. Two counters matter: s_cnt counts sixteen ticks within a bit, and b_cnt counts data bits. Parity is one line, a reduction XOR across the byte, XORed again with par_odd to invert it for odd parity. A bug I found and fixed during development: originally I popped the FIFO at the end of the frame, but the FSM returned to IDLE in the same cycle and latched the old byte a second time. Moving the pop to the moment the byte is latched, through tx_ack, fixed it. Note also that txd is driven from a register, which keeps glitches off the pin.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waveforms show why 16 times oversampling works and where it stops working. At zero mismatch, every sample lands exactly in the middle of its bit, the safest point, far from the edges. When the receiver's clock runs fast or slow, samples drift a little further each bit. The error accumulates, so the stop bit, the last sample, drifts most. At plus 5 percent the stop sample is 45 percent of a bit away from centre: still correct, but marginal. At plus 6 percent it lands in the previous bit, D7, which is zero, so the receiver reports a framing error. Half a bit of slack spread over nine and a half bits gives about 5 percent, less the sampling uncertainty, which is where the plus or minus 2 percent per-device budget comes from. My testbench checks exactly this at plus and minus 2 percent.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 has six states. IDLE waits for a falling edge. START counts eight ticks to the middle of the start bit and checks the line again. If it's high, the edge was a noise spike, and we return to IDLE; this is false-start rejection. DATA samples every sixteen ticks, always at a bit centre, and shifts the new bit in from the left, so after eight samples the first bit has reached position zero. PARITY captures the parity bit. STOP samples the stop bit and outputs the byte together with three error flags. The WAIT state, which I added after testing break conditions, stops the receiver from restarting on a line that's still held low.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Parity is the simplest error detection there is. On the transmit side, a reduction XOR of all eight data bits gives one when the number of ones is odd. For even parity, that's exactly the bit needed to make the total even. For odd parity, I invert it with par_odd. The receiver does the same calculation and XORs in the received parity bit; a result of one means something changed in transit. Looking at the examples, 0x4B has four ones so its even parity bit is zero. The limitation is important to state honestly: two flipped bits cancel out, so parity can't catch them, and it never tells you which bit is wrong.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module ties everything together. It instantiates all the sub-modules and contains the register logic. Address decoding produces three strobes: writing DATA pushes the TX FIFO, reading DATA pops the RX FIFO, and reading STATUS clears the error flags. Full-duplex operation is a direct result of the structure; the transmitter and receiver share nothing except the baud tick and the registers, so both can be mid-frame simultaneously. Loopback is a multiplexer in front of the synchronizer, so the loopback test exercises the real receive path including synchronization. Overrun is detected here rather than in the receiver, because only the top module knows the FIFO is full.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verification I wrote a self-checking testbench, so every run ends in a clear verdict. It has three parts. Bus tasks write and read registers, exactly as software would. A serial bus functional model, send_frame, drives frames onto RXD with any bit time I choose, so I can inject baud skew, bad parity, a zero stop bit, a break or a glitch. A checker reads STATUS and DATA and compares them with expected values, counting errors. The nine test cases cover normal transfer, both parity settings, clock tolerance at plus and minus 2 percent, all four error types, and false-start rejection. All nine pass.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testbench source. The structure follows the verification plan. The bus tasks drive sel, wr, addr and wdata on clock edges, the same way a processor would. The serial model, send_frame, builds a frame bit by bit using delays; because the bit time is a real number, I can scale it by 1.02 or 0.98 to model a mismatched clock. The expect_rx task does the checking. The main initial block runs the test cases in order and prints the final verdict. The command at the bottom compiles and runs the whole project with the free Icarus Verilog simulator.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actual simulation results. The waveform shows one frame in loopback. TXD falls at 0.25 microseconds, and every bit lasts 8.64 microseconds, which is 27 times 16 clock periods. Notice the receiver enters the DATA state at 4.43 microseconds, half a bit after the edge; that's the mid-bit alignment from oversampling. At 90.83 microseconds the receiver outputs 0x4B with rx_valid, and the interrupt rises one clock later. On the left is the full console output: every test case printed ok, and the run ended with zero errors after 7.8 milliseconds of simulated time. The status values show exactly the expected flags for each fault.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BF9B-52A4-3CB7-2525-2C670EC2C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AE250-A98D-5005-B38E-75AA44767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3CA28-4A18-46DC-3D1F-8C496D133C79}"/>
              </a:ext>
            </a:extLst>
          </p:cNvPr>
          <p:cNvSpPr>
            <a:spLocks noGrp="1"/>
          </p:cNvSpPr>
          <p:nvPr>
            <p:ph type="body" idx="1"/>
          </p:nvPr>
        </p:nvSpPr>
        <p:spPr/>
        <p:txBody>
          <a:bodyPr/>
          <a:lstStyle/>
          <a:p>
            <a:r>
              <a:rPr lang="en-US" dirty="0"/>
              <a:t>These are actual simulation results. The waveform shows one frame in loopback. TXD falls at 0.25 microseconds, and every bit lasts 8.64 microseconds, which is 27 times 16 clock periods. Notice the receiver enters the DATA state at 4.43 microseconds, half a bit after the edge; that's the mid-bit alignment from oversampling. At 90.83 microseconds the receiver outputs 0x4B with rx_valid, and the interrupt rises one clock later. On the left is the full console output: every test case printed ok, and the run ended with zero errors after 7.8 milliseconds of simulated time. The status values show exactly the expected flags for each fault.</a:t>
            </a:r>
          </a:p>
        </p:txBody>
      </p:sp>
      <p:sp>
        <p:nvSpPr>
          <p:cNvPr id="4" name="Slide Number Placeholder 3">
            <a:extLst>
              <a:ext uri="{FF2B5EF4-FFF2-40B4-BE49-F238E27FC236}">
                <a16:creationId xmlns:a16="http://schemas.microsoft.com/office/drawing/2014/main" id="{B20319FF-E8D9-65E5-B927-74B6AD0F40D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5380697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all five objectives were met. The controller is complete, synthesizable and modular. The baud generator produces 115,200 baud with under half a percent error. The receiver uses oversampling, false-start rejection and a proper synchronizer. All four standard errors are detected, and the self-checking testbench passes every test, including the clock-skew cases. For future work, the most valuable additions are a configurable frame format and a fractional divider for higher speeds, majority-vote sampling, flow control, a standard AMBA bus interface so it can drop into an SoC, and a UVM environment with coverage.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If I had to summarise the project in three lines: the two sides agree on time through a shared baud rate, oversampling and resynchronization on every start bit; every byte is framed so the receiver can find it; and everything is checked, both by the hardware's error flags and by the testbench. I'm happy to take questions, and I can return to any slide, for example the oversampling or error slides, to discuss a specific case.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UART controller in Verilog HDL</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UART controller in Verilog HDL</a:t>
            </a:r>
            <a:endParaRPr lang="en-US" sz="1000" dirty="0"/>
          </a:p>
        </p:txBody>
      </p:sp>
      <p:sp>
        <p:nvSpPr>
          <p:cNvPr id="3" name="Text 1"/>
          <p:cNvSpPr>
            <a:spLocks noGrp="1"/>
          </p:cNvSpPr>
          <p:nvPr>
            <p:ph type="title" idx="101" hasCustomPrompt="1"/>
          </p:nvPr>
        </p:nvSpPr>
        <p:spPr>
          <a:xfrm>
            <a:off x="548640" y="320040"/>
            <a:ext cx="11091672" cy="731520"/>
          </a:xfrm>
          <a:prstGeom prst="rect">
            <a:avLst/>
          </a:prstGeom>
          <a:noFill/>
          <a:ln/>
        </p:spPr>
        <p:txBody>
          <a:bodyPr wrap="square" rtlCol="0"/>
          <a:lstStyle>
            <a:lvl1pPr marL="0" indent="0" algn="l">
              <a:buNone/>
              <a:defRPr lang="en-US" sz="3200" b="1" dirty="0">
                <a:solidFill>
                  <a:schemeClr val="tx1"/>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731520"/>
            <a:ext cx="7315200" cy="365760"/>
          </a:xfrm>
          <a:prstGeom prst="rect">
            <a:avLst/>
          </a:prstGeom>
          <a:noFill/>
          <a:ln/>
        </p:spPr>
        <p:txBody>
          <a:bodyPr wrap="square" lIns="0" tIns="0" rIns="0" bIns="0" rtlCol="0" anchor="t"/>
          <a:lstStyle/>
          <a:p>
            <a:pPr marL="0" indent="0">
              <a:spcAft>
                <a:spcPts val="400"/>
              </a:spcAft>
              <a:buNone/>
            </a:pPr>
            <a:r>
              <a:rPr lang="en-US" dirty="0">
                <a:solidFill>
                  <a:schemeClr val="accent3"/>
                </a:solidFill>
              </a:rPr>
              <a:t>P</a:t>
            </a:r>
            <a:r>
              <a:rPr lang="en-US" sz="1800" dirty="0">
                <a:solidFill>
                  <a:schemeClr val="accent3"/>
                </a:solidFill>
              </a:rPr>
              <a:t>roject review</a:t>
            </a:r>
            <a:endParaRPr lang="en-US" sz="1800" dirty="0"/>
          </a:p>
        </p:txBody>
      </p:sp>
      <p:sp>
        <p:nvSpPr>
          <p:cNvPr id="4" name="Text 1"/>
          <p:cNvSpPr txBox="1"/>
          <p:nvPr/>
        </p:nvSpPr>
        <p:spPr>
          <a:xfrm>
            <a:off x="731520" y="1234440"/>
            <a:ext cx="9601200" cy="1920240"/>
          </a:xfrm>
          <a:prstGeom prst="rect">
            <a:avLst/>
          </a:prstGeom>
          <a:noFill/>
          <a:ln/>
        </p:spPr>
        <p:txBody>
          <a:bodyPr wrap="square" lIns="0" tIns="0" rIns="0" bIns="0" rtlCol="0" anchor="t"/>
          <a:lstStyle/>
          <a:p>
            <a:pPr marL="0" indent="0">
              <a:spcAft>
                <a:spcPts val="400"/>
              </a:spcAft>
              <a:buNone/>
            </a:pPr>
            <a:r>
              <a:rPr lang="en-US" sz="4400" b="1" dirty="0">
                <a:solidFill>
                  <a:schemeClr val="bg2"/>
                </a:solidFill>
                <a:latin typeface="Arial" pitchFamily="34" charset="0"/>
                <a:ea typeface="Arial" pitchFamily="34" charset="-122"/>
                <a:cs typeface="Arial" pitchFamily="34" charset="-120"/>
              </a:rPr>
              <a:t>Design and Verification of a UART Controller in Verilog HDL</a:t>
            </a:r>
            <a:endParaRPr lang="en-US" sz="4400" dirty="0"/>
          </a:p>
        </p:txBody>
      </p:sp>
      <p:sp>
        <p:nvSpPr>
          <p:cNvPr id="5" name="Text 2"/>
          <p:cNvSpPr txBox="1"/>
          <p:nvPr/>
        </p:nvSpPr>
        <p:spPr>
          <a:xfrm>
            <a:off x="731520" y="3156243"/>
            <a:ext cx="8686800" cy="822960"/>
          </a:xfrm>
          <a:prstGeom prst="rect">
            <a:avLst/>
          </a:prstGeom>
          <a:noFill/>
          <a:ln/>
        </p:spPr>
        <p:txBody>
          <a:bodyPr wrap="square" lIns="0" tIns="0" rIns="0" bIns="0" rtlCol="0" anchor="t"/>
          <a:lstStyle/>
          <a:p>
            <a:pPr marL="0" indent="0">
              <a:spcAft>
                <a:spcPts val="400"/>
              </a:spcAft>
              <a:buNone/>
            </a:pPr>
            <a:r>
              <a:rPr lang="en-US" sz="1700" dirty="0">
                <a:solidFill>
                  <a:schemeClr val="accent6"/>
                </a:solidFill>
              </a:rPr>
              <a:t>A synthesizable serial transceiver with programmable baud rate, parity, framing, overrun and break detection, verified with a self-checking testbench.</a:t>
            </a:r>
            <a:endParaRPr lang="en-US" sz="1700" dirty="0"/>
          </a:p>
        </p:txBody>
      </p:sp>
      <p:sp>
        <p:nvSpPr>
          <p:cNvPr id="6" name="Shape 3"/>
          <p:cNvSpPr/>
          <p:nvPr/>
        </p:nvSpPr>
        <p:spPr>
          <a:xfrm>
            <a:off x="731520" y="4800600"/>
            <a:ext cx="10725912" cy="0"/>
          </a:xfrm>
          <a:prstGeom prst="line">
            <a:avLst/>
          </a:prstGeom>
          <a:noFill/>
          <a:ln w="9525">
            <a:solidFill>
              <a:srgbClr val="5A5E5B"/>
            </a:solidFill>
            <a:prstDash val="solid"/>
          </a:ln>
        </p:spPr>
        <p:txBody>
          <a:bodyPr/>
          <a:lstStyle/>
          <a:p>
            <a:endParaRPr lang="en-IN"/>
          </a:p>
        </p:txBody>
      </p:sp>
      <p:sp>
        <p:nvSpPr>
          <p:cNvPr id="7" name="Text 4"/>
          <p:cNvSpPr txBox="1"/>
          <p:nvPr/>
        </p:nvSpPr>
        <p:spPr>
          <a:xfrm>
            <a:off x="731520" y="4983480"/>
            <a:ext cx="2560320" cy="274320"/>
          </a:xfrm>
          <a:prstGeom prst="rect">
            <a:avLst/>
          </a:prstGeom>
          <a:noFill/>
          <a:ln/>
        </p:spPr>
        <p:txBody>
          <a:bodyPr wrap="square" lIns="0" tIns="0" rIns="0" bIns="0" rtlCol="0" anchor="t"/>
          <a:lstStyle/>
          <a:p>
            <a:pPr marL="0" indent="0">
              <a:spcAft>
                <a:spcPts val="400"/>
              </a:spcAft>
              <a:buNone/>
            </a:pPr>
            <a:r>
              <a:rPr lang="en-US" sz="1200" dirty="0">
                <a:solidFill>
                  <a:schemeClr val="accent6"/>
                </a:solidFill>
              </a:rPr>
              <a:t>Presented by</a:t>
            </a:r>
            <a:endParaRPr lang="en-US" sz="1200" dirty="0"/>
          </a:p>
        </p:txBody>
      </p:sp>
      <p:sp>
        <p:nvSpPr>
          <p:cNvPr id="8" name="Text 5"/>
          <p:cNvSpPr txBox="1"/>
          <p:nvPr/>
        </p:nvSpPr>
        <p:spPr>
          <a:xfrm>
            <a:off x="646726" y="5209344"/>
            <a:ext cx="4392245" cy="1527518"/>
          </a:xfrm>
          <a:prstGeom prst="rect">
            <a:avLst/>
          </a:prstGeom>
          <a:noFill/>
          <a:ln/>
        </p:spPr>
        <p:txBody>
          <a:bodyPr wrap="square" lIns="0" tIns="0" rIns="0" bIns="0" rtlCol="0" anchor="t"/>
          <a:lstStyle/>
          <a:p>
            <a:pPr marL="0" indent="0">
              <a:spcAft>
                <a:spcPts val="400"/>
              </a:spcAft>
              <a:buNone/>
            </a:pPr>
            <a:r>
              <a:rPr lang="en-US" sz="1700" b="1" dirty="0">
                <a:solidFill>
                  <a:schemeClr val="bg2"/>
                </a:solidFill>
              </a:rPr>
              <a:t>K Sai Akhil                         Am.En.P2VLD26006       </a:t>
            </a:r>
          </a:p>
          <a:p>
            <a:pPr>
              <a:spcAft>
                <a:spcPts val="400"/>
              </a:spcAft>
            </a:pPr>
            <a:r>
              <a:rPr lang="en-US" sz="1700" b="1" dirty="0" err="1">
                <a:solidFill>
                  <a:schemeClr val="bg2"/>
                </a:solidFill>
              </a:rPr>
              <a:t>Indiresh</a:t>
            </a:r>
            <a:r>
              <a:rPr lang="en-US" sz="1700" b="1" dirty="0">
                <a:solidFill>
                  <a:schemeClr val="bg2"/>
                </a:solidFill>
              </a:rPr>
              <a:t>                             Am.En.P2VLD26012</a:t>
            </a:r>
          </a:p>
          <a:p>
            <a:pPr>
              <a:spcAft>
                <a:spcPts val="400"/>
              </a:spcAft>
            </a:pPr>
            <a:r>
              <a:rPr lang="en-US" sz="1700" b="1" dirty="0">
                <a:solidFill>
                  <a:schemeClr val="bg2"/>
                </a:solidFill>
              </a:rPr>
              <a:t>Hemanth B R                    Am.En.P2VLD26015 </a:t>
            </a:r>
          </a:p>
          <a:p>
            <a:pPr>
              <a:spcAft>
                <a:spcPts val="400"/>
              </a:spcAft>
            </a:pPr>
            <a:r>
              <a:rPr lang="en-US" sz="1700" b="1" dirty="0">
                <a:solidFill>
                  <a:schemeClr val="bg2"/>
                </a:solidFill>
              </a:rPr>
              <a:t>Hanuman K                      Am.En.P2VLD26027 </a:t>
            </a:r>
          </a:p>
          <a:p>
            <a:pPr>
              <a:spcAft>
                <a:spcPts val="400"/>
              </a:spcAft>
            </a:pPr>
            <a:r>
              <a:rPr lang="en-US" sz="1700" b="1" dirty="0">
                <a:solidFill>
                  <a:schemeClr val="bg2"/>
                </a:solidFill>
              </a:rPr>
              <a:t>B Vallabha                        Am.En.P2VLD26029 </a:t>
            </a:r>
          </a:p>
          <a:p>
            <a:pPr marL="0" indent="0">
              <a:spcAft>
                <a:spcPts val="400"/>
              </a:spcAft>
              <a:buNone/>
            </a:pPr>
            <a:endParaRPr lang="en-US" sz="1700" b="1" dirty="0">
              <a:solidFill>
                <a:schemeClr val="bg2"/>
              </a:solidFill>
            </a:endParaRPr>
          </a:p>
          <a:p>
            <a:pPr marL="0" indent="0">
              <a:spcAft>
                <a:spcPts val="400"/>
              </a:spcAft>
              <a:buNone/>
            </a:pPr>
            <a:r>
              <a:rPr lang="en-US" sz="1700" b="1" dirty="0">
                <a:solidFill>
                  <a:schemeClr val="bg2"/>
                </a:solidFill>
              </a:rPr>
              <a:t> </a:t>
            </a:r>
          </a:p>
          <a:p>
            <a:pPr marL="0" indent="0">
              <a:spcAft>
                <a:spcPts val="400"/>
              </a:spcAft>
              <a:buNone/>
            </a:pPr>
            <a:endParaRPr lang="en-US" sz="1700" dirty="0"/>
          </a:p>
        </p:txBody>
      </p:sp>
      <p:sp>
        <p:nvSpPr>
          <p:cNvPr id="9" name="Text 6"/>
          <p:cNvSpPr txBox="1"/>
          <p:nvPr/>
        </p:nvSpPr>
        <p:spPr>
          <a:xfrm>
            <a:off x="3022992" y="4960620"/>
            <a:ext cx="2560320" cy="320040"/>
          </a:xfrm>
          <a:prstGeom prst="rect">
            <a:avLst/>
          </a:prstGeom>
          <a:noFill/>
          <a:ln/>
        </p:spPr>
        <p:txBody>
          <a:bodyPr wrap="square" lIns="0" tIns="0" rIns="0" bIns="0" rtlCol="0" anchor="t"/>
          <a:lstStyle/>
          <a:p>
            <a:pPr marL="0" indent="0">
              <a:spcAft>
                <a:spcPts val="400"/>
              </a:spcAft>
              <a:buNone/>
            </a:pPr>
            <a:r>
              <a:rPr lang="en-US" sz="1400" dirty="0">
                <a:solidFill>
                  <a:schemeClr val="accent6"/>
                </a:solidFill>
              </a:rPr>
              <a:t>Register number</a:t>
            </a:r>
            <a:endParaRPr lang="en-US" sz="1400" dirty="0"/>
          </a:p>
        </p:txBody>
      </p:sp>
      <p:sp>
        <p:nvSpPr>
          <p:cNvPr id="10" name="Text 7"/>
          <p:cNvSpPr txBox="1"/>
          <p:nvPr/>
        </p:nvSpPr>
        <p:spPr>
          <a:xfrm>
            <a:off x="6339842" y="4867812"/>
            <a:ext cx="2560320" cy="274320"/>
          </a:xfrm>
          <a:prstGeom prst="rect">
            <a:avLst/>
          </a:prstGeom>
          <a:noFill/>
          <a:ln/>
        </p:spPr>
        <p:txBody>
          <a:bodyPr wrap="square" lIns="0" tIns="0" rIns="0" bIns="0" rtlCol="0" anchor="t"/>
          <a:lstStyle/>
          <a:p>
            <a:pPr marL="0" indent="0">
              <a:spcAft>
                <a:spcPts val="400"/>
              </a:spcAft>
              <a:buNone/>
            </a:pPr>
            <a:r>
              <a:rPr lang="en-US" sz="1200" dirty="0">
                <a:solidFill>
                  <a:schemeClr val="accent6"/>
                </a:solidFill>
              </a:rPr>
              <a:t>Guided by</a:t>
            </a:r>
            <a:endParaRPr lang="en-US" sz="1200" dirty="0"/>
          </a:p>
        </p:txBody>
      </p:sp>
      <p:sp>
        <p:nvSpPr>
          <p:cNvPr id="11" name="Text 8"/>
          <p:cNvSpPr txBox="1"/>
          <p:nvPr/>
        </p:nvSpPr>
        <p:spPr>
          <a:xfrm>
            <a:off x="6220656" y="5209343"/>
            <a:ext cx="2560320" cy="365760"/>
          </a:xfrm>
          <a:prstGeom prst="rect">
            <a:avLst/>
          </a:prstGeom>
          <a:noFill/>
          <a:ln/>
        </p:spPr>
        <p:txBody>
          <a:bodyPr wrap="square" lIns="0" tIns="0" rIns="0" bIns="0" rtlCol="0" anchor="t"/>
          <a:lstStyle/>
          <a:p>
            <a:pPr marL="0" indent="0">
              <a:spcAft>
                <a:spcPts val="400"/>
              </a:spcAft>
              <a:buNone/>
            </a:pPr>
            <a:r>
              <a:rPr lang="en-US" sz="1700" b="1" dirty="0">
                <a:solidFill>
                  <a:schemeClr val="bg2"/>
                </a:solidFill>
              </a:rPr>
              <a:t>Jaya Krishnan</a:t>
            </a:r>
            <a:endParaRPr lang="en-US" sz="1700" dirty="0"/>
          </a:p>
        </p:txBody>
      </p:sp>
      <p:sp>
        <p:nvSpPr>
          <p:cNvPr id="12" name="Text 9"/>
          <p:cNvSpPr txBox="1"/>
          <p:nvPr/>
        </p:nvSpPr>
        <p:spPr>
          <a:xfrm>
            <a:off x="5336932" y="5486400"/>
            <a:ext cx="3444044" cy="898768"/>
          </a:xfrm>
          <a:prstGeom prst="rect">
            <a:avLst/>
          </a:prstGeom>
          <a:noFill/>
          <a:ln/>
        </p:spPr>
        <p:txBody>
          <a:bodyPr wrap="square" lIns="0" tIns="0" rIns="0" bIns="0" rtlCol="0" anchor="t"/>
          <a:lstStyle>
            <a:lvl1pPr>
              <a:spcAft>
                <a:spcPts val="400"/>
              </a:spcAft>
              <a:defRPr sz="1400">
                <a:solidFill>
                  <a:schemeClr val="accent6"/>
                </a:solidFill>
              </a:defRPr>
            </a:lvl1pPr>
          </a:lstStyle>
          <a:p>
            <a:r>
              <a:rPr lang="en-US" dirty="0"/>
              <a:t>                           Professor</a:t>
            </a:r>
          </a:p>
          <a:p>
            <a:r>
              <a:rPr lang="en-IN" dirty="0"/>
              <a:t>          Amrita Vishwa Vidyapeetham</a:t>
            </a:r>
          </a:p>
          <a:p>
            <a:endParaRPr lang="en-US" dirty="0"/>
          </a:p>
        </p:txBody>
      </p:sp>
      <p:sp>
        <p:nvSpPr>
          <p:cNvPr id="18" name="Text 15"/>
          <p:cNvSpPr txBox="1"/>
          <p:nvPr/>
        </p:nvSpPr>
        <p:spPr>
          <a:xfrm>
            <a:off x="10325686" y="6474850"/>
            <a:ext cx="2560320" cy="320040"/>
          </a:xfrm>
          <a:prstGeom prst="rect">
            <a:avLst/>
          </a:prstGeom>
          <a:noFill/>
          <a:ln/>
        </p:spPr>
        <p:txBody>
          <a:bodyPr wrap="square" lIns="0" tIns="0" rIns="0" bIns="0" rtlCol="0" anchor="t"/>
          <a:lstStyle/>
          <a:p>
            <a:pPr marL="0" indent="0">
              <a:spcAft>
                <a:spcPts val="400"/>
              </a:spcAft>
              <a:buNone/>
            </a:pPr>
            <a:r>
              <a:rPr lang="en-US" sz="1400" dirty="0">
                <a:solidFill>
                  <a:schemeClr val="accent6"/>
                </a:solidFill>
              </a:rPr>
              <a:t>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Outline of the presentation</a:t>
            </a:r>
            <a:endParaRPr lang="en-US" sz="3200" dirty="0"/>
          </a:p>
        </p:txBody>
      </p:sp>
      <p:sp>
        <p:nvSpPr>
          <p:cNvPr id="4" name="Text 1"/>
          <p:cNvSpPr txBox="1"/>
          <p:nvPr/>
        </p:nvSpPr>
        <p:spPr>
          <a:xfrm>
            <a:off x="548640" y="1371600"/>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01</a:t>
            </a:r>
            <a:endParaRPr lang="en-US" sz="2000" dirty="0"/>
          </a:p>
        </p:txBody>
      </p:sp>
      <p:sp>
        <p:nvSpPr>
          <p:cNvPr id="5" name="Text 2"/>
          <p:cNvSpPr txBox="1"/>
          <p:nvPr/>
        </p:nvSpPr>
        <p:spPr>
          <a:xfrm>
            <a:off x="1280160" y="1371600"/>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Problem statement and objectives</a:t>
            </a:r>
            <a:endParaRPr lang="en-US" sz="1600" dirty="0"/>
          </a:p>
          <a:p>
            <a:pPr marL="0" indent="0">
              <a:spcAft>
                <a:spcPts val="400"/>
              </a:spcAft>
              <a:buNone/>
            </a:pPr>
            <a:r>
              <a:rPr lang="en-US" sz="1400" dirty="0">
                <a:solidFill>
                  <a:schemeClr val="tx2"/>
                </a:solidFill>
              </a:rPr>
              <a:t>Why the project exists and what it set out to do</a:t>
            </a:r>
            <a:endParaRPr lang="en-US" sz="1600" dirty="0"/>
          </a:p>
        </p:txBody>
      </p:sp>
      <p:sp>
        <p:nvSpPr>
          <p:cNvPr id="6" name="Shape 3"/>
          <p:cNvSpPr/>
          <p:nvPr/>
        </p:nvSpPr>
        <p:spPr>
          <a:xfrm>
            <a:off x="548640" y="2212848"/>
            <a:ext cx="5394960" cy="0"/>
          </a:xfrm>
          <a:prstGeom prst="line">
            <a:avLst/>
          </a:prstGeom>
          <a:noFill/>
          <a:ln w="9525">
            <a:solidFill>
              <a:srgbClr val="C9C5B9"/>
            </a:solidFill>
            <a:prstDash val="solid"/>
          </a:ln>
        </p:spPr>
        <p:txBody>
          <a:bodyPr/>
          <a:lstStyle/>
          <a:p>
            <a:endParaRPr lang="en-IN"/>
          </a:p>
        </p:txBody>
      </p:sp>
      <p:sp>
        <p:nvSpPr>
          <p:cNvPr id="7" name="Text 4"/>
          <p:cNvSpPr txBox="1"/>
          <p:nvPr/>
        </p:nvSpPr>
        <p:spPr>
          <a:xfrm>
            <a:off x="548640" y="2313432"/>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02</a:t>
            </a:r>
            <a:endParaRPr lang="en-US" sz="2000" dirty="0"/>
          </a:p>
        </p:txBody>
      </p:sp>
      <p:sp>
        <p:nvSpPr>
          <p:cNvPr id="8" name="Text 5"/>
          <p:cNvSpPr txBox="1"/>
          <p:nvPr/>
        </p:nvSpPr>
        <p:spPr>
          <a:xfrm>
            <a:off x="1280160" y="2313432"/>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What UART is</a:t>
            </a:r>
            <a:endParaRPr lang="en-US" sz="1600" dirty="0"/>
          </a:p>
          <a:p>
            <a:pPr marL="0" indent="0">
              <a:spcAft>
                <a:spcPts val="400"/>
              </a:spcAft>
              <a:buNone/>
            </a:pPr>
            <a:r>
              <a:rPr lang="en-US" sz="1400" dirty="0">
                <a:solidFill>
                  <a:schemeClr val="tx2"/>
                </a:solidFill>
              </a:rPr>
              <a:t>Definition, uses, comparison with SPI and I²C</a:t>
            </a:r>
            <a:endParaRPr lang="en-US" sz="1600" dirty="0"/>
          </a:p>
        </p:txBody>
      </p:sp>
      <p:sp>
        <p:nvSpPr>
          <p:cNvPr id="9" name="Shape 6"/>
          <p:cNvSpPr/>
          <p:nvPr/>
        </p:nvSpPr>
        <p:spPr>
          <a:xfrm>
            <a:off x="548640" y="3154680"/>
            <a:ext cx="5394960" cy="0"/>
          </a:xfrm>
          <a:prstGeom prst="line">
            <a:avLst/>
          </a:prstGeom>
          <a:noFill/>
          <a:ln w="9525">
            <a:solidFill>
              <a:srgbClr val="C9C5B9"/>
            </a:solidFill>
            <a:prstDash val="solid"/>
          </a:ln>
        </p:spPr>
        <p:txBody>
          <a:bodyPr/>
          <a:lstStyle/>
          <a:p>
            <a:endParaRPr lang="en-IN"/>
          </a:p>
        </p:txBody>
      </p:sp>
      <p:sp>
        <p:nvSpPr>
          <p:cNvPr id="10" name="Text 7"/>
          <p:cNvSpPr txBox="1"/>
          <p:nvPr/>
        </p:nvSpPr>
        <p:spPr>
          <a:xfrm>
            <a:off x="548640" y="3255264"/>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03</a:t>
            </a:r>
            <a:endParaRPr lang="en-US" sz="2000" dirty="0"/>
          </a:p>
        </p:txBody>
      </p:sp>
      <p:sp>
        <p:nvSpPr>
          <p:cNvPr id="11" name="Text 8"/>
          <p:cNvSpPr txBox="1"/>
          <p:nvPr/>
        </p:nvSpPr>
        <p:spPr>
          <a:xfrm>
            <a:off x="1280160" y="3255264"/>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How UART works</a:t>
            </a:r>
            <a:endParaRPr lang="en-US" sz="1600" dirty="0"/>
          </a:p>
          <a:p>
            <a:pPr marL="0" indent="0">
              <a:spcAft>
                <a:spcPts val="400"/>
              </a:spcAft>
              <a:buNone/>
            </a:pPr>
            <a:r>
              <a:rPr lang="en-US" sz="1400" dirty="0">
                <a:solidFill>
                  <a:schemeClr val="tx2"/>
                </a:solidFill>
              </a:rPr>
              <a:t>Asynchronous timing, frame format, baud rate</a:t>
            </a:r>
            <a:endParaRPr lang="en-US" sz="1600" dirty="0"/>
          </a:p>
        </p:txBody>
      </p:sp>
      <p:sp>
        <p:nvSpPr>
          <p:cNvPr id="12" name="Shape 9"/>
          <p:cNvSpPr/>
          <p:nvPr/>
        </p:nvSpPr>
        <p:spPr>
          <a:xfrm>
            <a:off x="548640" y="4096512"/>
            <a:ext cx="5394960" cy="0"/>
          </a:xfrm>
          <a:prstGeom prst="line">
            <a:avLst/>
          </a:prstGeom>
          <a:noFill/>
          <a:ln w="9525">
            <a:solidFill>
              <a:srgbClr val="C9C5B9"/>
            </a:solidFill>
            <a:prstDash val="solid"/>
          </a:ln>
        </p:spPr>
        <p:txBody>
          <a:bodyPr/>
          <a:lstStyle/>
          <a:p>
            <a:endParaRPr lang="en-IN"/>
          </a:p>
        </p:txBody>
      </p:sp>
      <p:sp>
        <p:nvSpPr>
          <p:cNvPr id="13" name="Text 10"/>
          <p:cNvSpPr txBox="1"/>
          <p:nvPr/>
        </p:nvSpPr>
        <p:spPr>
          <a:xfrm>
            <a:off x="548640" y="4197096"/>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04</a:t>
            </a:r>
            <a:endParaRPr lang="en-US" sz="2000" dirty="0"/>
          </a:p>
        </p:txBody>
      </p:sp>
      <p:sp>
        <p:nvSpPr>
          <p:cNvPr id="14" name="Text 11"/>
          <p:cNvSpPr txBox="1"/>
          <p:nvPr/>
        </p:nvSpPr>
        <p:spPr>
          <a:xfrm>
            <a:off x="1280160" y="4197096"/>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Design specifications</a:t>
            </a:r>
            <a:endParaRPr lang="en-US" sz="1600" dirty="0"/>
          </a:p>
          <a:p>
            <a:pPr marL="0" indent="0">
              <a:spcAft>
                <a:spcPts val="400"/>
              </a:spcAft>
              <a:buNone/>
            </a:pPr>
            <a:r>
              <a:rPr lang="en-US" sz="1400" dirty="0">
                <a:solidFill>
                  <a:schemeClr val="tx2"/>
                </a:solidFill>
              </a:rPr>
              <a:t>What this controller supports</a:t>
            </a:r>
            <a:endParaRPr lang="en-US" sz="1600" dirty="0"/>
          </a:p>
        </p:txBody>
      </p:sp>
      <p:sp>
        <p:nvSpPr>
          <p:cNvPr id="15" name="Shape 12"/>
          <p:cNvSpPr/>
          <p:nvPr/>
        </p:nvSpPr>
        <p:spPr>
          <a:xfrm>
            <a:off x="548640" y="5038344"/>
            <a:ext cx="5394960" cy="0"/>
          </a:xfrm>
          <a:prstGeom prst="line">
            <a:avLst/>
          </a:prstGeom>
          <a:noFill/>
          <a:ln w="9525">
            <a:solidFill>
              <a:srgbClr val="C9C5B9"/>
            </a:solidFill>
            <a:prstDash val="solid"/>
          </a:ln>
        </p:spPr>
        <p:txBody>
          <a:bodyPr/>
          <a:lstStyle/>
          <a:p>
            <a:endParaRPr lang="en-IN"/>
          </a:p>
        </p:txBody>
      </p:sp>
      <p:sp>
        <p:nvSpPr>
          <p:cNvPr id="16" name="Text 13"/>
          <p:cNvSpPr txBox="1"/>
          <p:nvPr/>
        </p:nvSpPr>
        <p:spPr>
          <a:xfrm>
            <a:off x="548640" y="5138928"/>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05</a:t>
            </a:r>
            <a:endParaRPr lang="en-US" sz="2000" dirty="0"/>
          </a:p>
        </p:txBody>
      </p:sp>
      <p:sp>
        <p:nvSpPr>
          <p:cNvPr id="17" name="Text 14"/>
          <p:cNvSpPr txBox="1"/>
          <p:nvPr/>
        </p:nvSpPr>
        <p:spPr>
          <a:xfrm>
            <a:off x="1280160" y="5138928"/>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Architecture and data flow</a:t>
            </a:r>
            <a:endParaRPr lang="en-US" sz="1600" dirty="0"/>
          </a:p>
          <a:p>
            <a:pPr marL="0" indent="0">
              <a:spcAft>
                <a:spcPts val="400"/>
              </a:spcAft>
              <a:buNone/>
            </a:pPr>
            <a:r>
              <a:rPr lang="en-US" sz="1400" dirty="0">
                <a:solidFill>
                  <a:schemeClr val="tx2"/>
                </a:solidFill>
              </a:rPr>
              <a:t>Block diagram and a byte's full journey</a:t>
            </a:r>
            <a:endParaRPr lang="en-US" sz="1600" dirty="0"/>
          </a:p>
        </p:txBody>
      </p:sp>
      <p:sp>
        <p:nvSpPr>
          <p:cNvPr id="18" name="Shape 15"/>
          <p:cNvSpPr/>
          <p:nvPr/>
        </p:nvSpPr>
        <p:spPr>
          <a:xfrm>
            <a:off x="548640" y="5980176"/>
            <a:ext cx="5394960" cy="0"/>
          </a:xfrm>
          <a:prstGeom prst="line">
            <a:avLst/>
          </a:prstGeom>
          <a:noFill/>
          <a:ln w="9525">
            <a:solidFill>
              <a:srgbClr val="C9C5B9"/>
            </a:solidFill>
            <a:prstDash val="solid"/>
          </a:ln>
        </p:spPr>
        <p:txBody>
          <a:bodyPr/>
          <a:lstStyle/>
          <a:p>
            <a:endParaRPr lang="en-IN"/>
          </a:p>
        </p:txBody>
      </p:sp>
      <p:sp>
        <p:nvSpPr>
          <p:cNvPr id="19" name="Text 16"/>
          <p:cNvSpPr txBox="1"/>
          <p:nvPr/>
        </p:nvSpPr>
        <p:spPr>
          <a:xfrm>
            <a:off x="6263640" y="1371600"/>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06</a:t>
            </a:r>
            <a:endParaRPr lang="en-US" sz="2000" dirty="0"/>
          </a:p>
        </p:txBody>
      </p:sp>
      <p:sp>
        <p:nvSpPr>
          <p:cNvPr id="20" name="Text 17"/>
          <p:cNvSpPr txBox="1"/>
          <p:nvPr/>
        </p:nvSpPr>
        <p:spPr>
          <a:xfrm>
            <a:off x="6995160" y="1371600"/>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Module design in Verilog</a:t>
            </a:r>
            <a:endParaRPr lang="en-US" sz="1600" dirty="0"/>
          </a:p>
          <a:p>
            <a:pPr marL="0" indent="0">
              <a:spcAft>
                <a:spcPts val="400"/>
              </a:spcAft>
              <a:buNone/>
            </a:pPr>
            <a:r>
              <a:rPr lang="en-US" sz="1400" dirty="0">
                <a:solidFill>
                  <a:schemeClr val="tx2"/>
                </a:solidFill>
              </a:rPr>
              <a:t>Baud generator, TX, synchronizer, RX</a:t>
            </a:r>
            <a:endParaRPr lang="en-US" sz="1600" dirty="0"/>
          </a:p>
        </p:txBody>
      </p:sp>
      <p:sp>
        <p:nvSpPr>
          <p:cNvPr id="21" name="Shape 18"/>
          <p:cNvSpPr/>
          <p:nvPr/>
        </p:nvSpPr>
        <p:spPr>
          <a:xfrm>
            <a:off x="6263640" y="2212848"/>
            <a:ext cx="5394960" cy="0"/>
          </a:xfrm>
          <a:prstGeom prst="line">
            <a:avLst/>
          </a:prstGeom>
          <a:noFill/>
          <a:ln w="9525">
            <a:solidFill>
              <a:srgbClr val="C9C5B9"/>
            </a:solidFill>
            <a:prstDash val="solid"/>
          </a:ln>
        </p:spPr>
        <p:txBody>
          <a:bodyPr/>
          <a:lstStyle/>
          <a:p>
            <a:endParaRPr lang="en-IN"/>
          </a:p>
        </p:txBody>
      </p:sp>
      <p:sp>
        <p:nvSpPr>
          <p:cNvPr id="22" name="Text 19"/>
          <p:cNvSpPr txBox="1"/>
          <p:nvPr/>
        </p:nvSpPr>
        <p:spPr>
          <a:xfrm>
            <a:off x="6263640" y="2313432"/>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07</a:t>
            </a:r>
            <a:endParaRPr lang="en-US" sz="2000" dirty="0"/>
          </a:p>
        </p:txBody>
      </p:sp>
      <p:sp>
        <p:nvSpPr>
          <p:cNvPr id="23" name="Text 20"/>
          <p:cNvSpPr txBox="1"/>
          <p:nvPr/>
        </p:nvSpPr>
        <p:spPr>
          <a:xfrm>
            <a:off x="6995160" y="2313432"/>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Error detection</a:t>
            </a:r>
            <a:endParaRPr lang="en-US" sz="1600" dirty="0"/>
          </a:p>
          <a:p>
            <a:pPr marL="0" indent="0">
              <a:spcAft>
                <a:spcPts val="400"/>
              </a:spcAft>
              <a:buNone/>
            </a:pPr>
            <a:r>
              <a:rPr lang="en-US" sz="1400" dirty="0">
                <a:solidFill>
                  <a:schemeClr val="tx2"/>
                </a:solidFill>
              </a:rPr>
              <a:t>Parity, framing,</a:t>
            </a:r>
            <a:endParaRPr lang="en-US" sz="1600" dirty="0"/>
          </a:p>
        </p:txBody>
      </p:sp>
      <p:sp>
        <p:nvSpPr>
          <p:cNvPr id="24" name="Shape 21"/>
          <p:cNvSpPr/>
          <p:nvPr/>
        </p:nvSpPr>
        <p:spPr>
          <a:xfrm>
            <a:off x="6263640" y="3154680"/>
            <a:ext cx="5394960" cy="0"/>
          </a:xfrm>
          <a:prstGeom prst="line">
            <a:avLst/>
          </a:prstGeom>
          <a:noFill/>
          <a:ln w="9525">
            <a:solidFill>
              <a:srgbClr val="C9C5B9"/>
            </a:solidFill>
            <a:prstDash val="solid"/>
          </a:ln>
        </p:spPr>
        <p:txBody>
          <a:bodyPr/>
          <a:lstStyle/>
          <a:p>
            <a:endParaRPr lang="en-IN"/>
          </a:p>
        </p:txBody>
      </p:sp>
      <p:sp>
        <p:nvSpPr>
          <p:cNvPr id="25" name="Text 22"/>
          <p:cNvSpPr txBox="1"/>
          <p:nvPr/>
        </p:nvSpPr>
        <p:spPr>
          <a:xfrm>
            <a:off x="6263640" y="3255264"/>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08</a:t>
            </a:r>
            <a:endParaRPr lang="en-US" sz="2000" dirty="0"/>
          </a:p>
        </p:txBody>
      </p:sp>
      <p:sp>
        <p:nvSpPr>
          <p:cNvPr id="26" name="Text 23"/>
          <p:cNvSpPr txBox="1"/>
          <p:nvPr/>
        </p:nvSpPr>
        <p:spPr>
          <a:xfrm>
            <a:off x="6995160" y="3255264"/>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Registers and top-level integration</a:t>
            </a:r>
            <a:endParaRPr lang="en-US" sz="1600" dirty="0"/>
          </a:p>
          <a:p>
            <a:pPr marL="0" indent="0">
              <a:spcAft>
                <a:spcPts val="400"/>
              </a:spcAft>
              <a:buNone/>
            </a:pPr>
            <a:r>
              <a:rPr lang="en-US" sz="1400" dirty="0">
                <a:solidFill>
                  <a:schemeClr val="tx2"/>
                </a:solidFill>
              </a:rPr>
              <a:t>Software interface, loopback, interrupts</a:t>
            </a:r>
            <a:endParaRPr lang="en-US" sz="1600" dirty="0"/>
          </a:p>
        </p:txBody>
      </p:sp>
      <p:sp>
        <p:nvSpPr>
          <p:cNvPr id="27" name="Shape 24"/>
          <p:cNvSpPr/>
          <p:nvPr/>
        </p:nvSpPr>
        <p:spPr>
          <a:xfrm>
            <a:off x="6263640" y="4096512"/>
            <a:ext cx="5394960" cy="0"/>
          </a:xfrm>
          <a:prstGeom prst="line">
            <a:avLst/>
          </a:prstGeom>
          <a:noFill/>
          <a:ln w="9525">
            <a:solidFill>
              <a:srgbClr val="C9C5B9"/>
            </a:solidFill>
            <a:prstDash val="solid"/>
          </a:ln>
        </p:spPr>
        <p:txBody>
          <a:bodyPr/>
          <a:lstStyle/>
          <a:p>
            <a:endParaRPr lang="en-IN"/>
          </a:p>
        </p:txBody>
      </p:sp>
      <p:sp>
        <p:nvSpPr>
          <p:cNvPr id="28" name="Text 25"/>
          <p:cNvSpPr txBox="1"/>
          <p:nvPr/>
        </p:nvSpPr>
        <p:spPr>
          <a:xfrm>
            <a:off x="6263640" y="4197096"/>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09</a:t>
            </a:r>
            <a:endParaRPr lang="en-US" sz="2000" dirty="0"/>
          </a:p>
        </p:txBody>
      </p:sp>
      <p:sp>
        <p:nvSpPr>
          <p:cNvPr id="29" name="Text 26"/>
          <p:cNvSpPr txBox="1"/>
          <p:nvPr/>
        </p:nvSpPr>
        <p:spPr>
          <a:xfrm>
            <a:off x="6995160" y="4197096"/>
            <a:ext cx="4663440" cy="77724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Verification and results</a:t>
            </a:r>
            <a:endParaRPr lang="en-US" sz="1600" dirty="0"/>
          </a:p>
          <a:p>
            <a:pPr marL="0" indent="0">
              <a:spcAft>
                <a:spcPts val="400"/>
              </a:spcAft>
              <a:buNone/>
            </a:pPr>
            <a:r>
              <a:rPr lang="en-US" sz="1400" dirty="0">
                <a:solidFill>
                  <a:schemeClr val="tx2"/>
                </a:solidFill>
              </a:rPr>
              <a:t>Testbench, test cases, simulation output</a:t>
            </a:r>
            <a:endParaRPr lang="en-US" sz="1600" dirty="0"/>
          </a:p>
        </p:txBody>
      </p:sp>
      <p:sp>
        <p:nvSpPr>
          <p:cNvPr id="30" name="Shape 27"/>
          <p:cNvSpPr/>
          <p:nvPr/>
        </p:nvSpPr>
        <p:spPr>
          <a:xfrm>
            <a:off x="6263640" y="5038344"/>
            <a:ext cx="5394960" cy="0"/>
          </a:xfrm>
          <a:prstGeom prst="line">
            <a:avLst/>
          </a:prstGeom>
          <a:noFill/>
          <a:ln w="9525">
            <a:solidFill>
              <a:srgbClr val="C9C5B9"/>
            </a:solidFill>
            <a:prstDash val="solid"/>
          </a:ln>
        </p:spPr>
        <p:txBody>
          <a:bodyPr/>
          <a:lstStyle/>
          <a:p>
            <a:endParaRPr lang="en-IN"/>
          </a:p>
        </p:txBody>
      </p:sp>
      <p:sp>
        <p:nvSpPr>
          <p:cNvPr id="31" name="Text 28"/>
          <p:cNvSpPr txBox="1"/>
          <p:nvPr/>
        </p:nvSpPr>
        <p:spPr>
          <a:xfrm>
            <a:off x="6263640" y="5138928"/>
            <a:ext cx="640080" cy="457200"/>
          </a:xfrm>
          <a:prstGeom prst="rect">
            <a:avLst/>
          </a:prstGeom>
          <a:noFill/>
          <a:ln/>
        </p:spPr>
        <p:txBody>
          <a:bodyPr wrap="square" lIns="0" tIns="0" rIns="0" bIns="0" rtlCol="0" anchor="t"/>
          <a:lstStyle/>
          <a:p>
            <a:pPr marL="0" indent="0">
              <a:spcAft>
                <a:spcPts val="400"/>
              </a:spcAft>
              <a:buNone/>
            </a:pPr>
            <a:r>
              <a:rPr lang="en-US" sz="2000" b="1" dirty="0">
                <a:solidFill>
                  <a:schemeClr val="accent1"/>
                </a:solidFill>
                <a:latin typeface="Courier New" pitchFamily="34" charset="0"/>
                <a:ea typeface="Courier New" pitchFamily="34" charset="-122"/>
                <a:cs typeface="Courier New" pitchFamily="34" charset="-120"/>
              </a:rPr>
              <a:t>10</a:t>
            </a:r>
            <a:endParaRPr lang="en-US" sz="2000" dirty="0"/>
          </a:p>
        </p:txBody>
      </p:sp>
      <p:sp>
        <p:nvSpPr>
          <p:cNvPr id="32" name="Text 29"/>
          <p:cNvSpPr txBox="1"/>
          <p:nvPr/>
        </p:nvSpPr>
        <p:spPr>
          <a:xfrm>
            <a:off x="6995160" y="5138928"/>
            <a:ext cx="4663440" cy="777240"/>
          </a:xfrm>
          <a:prstGeom prst="rect">
            <a:avLst/>
          </a:prstGeom>
          <a:noFill/>
          <a:ln/>
        </p:spPr>
        <p:txBody>
          <a:bodyPr wrap="square" lIns="0" tIns="0" rIns="0" bIns="0" rtlCol="0" anchor="t"/>
          <a:lstStyle/>
          <a:p>
            <a:pPr marL="0" indent="0">
              <a:spcAft>
                <a:spcPts val="400"/>
              </a:spcAft>
              <a:buNone/>
            </a:pPr>
            <a:r>
              <a:rPr lang="en-US" sz="1700" b="1" dirty="0"/>
              <a:t>C</a:t>
            </a:r>
            <a:r>
              <a:rPr lang="en-US" sz="1700" b="1" dirty="0">
                <a:solidFill>
                  <a:schemeClr val="tx1"/>
                </a:solidFill>
              </a:rPr>
              <a:t>onclusion, future scope</a:t>
            </a:r>
            <a:endParaRPr lang="en-US" sz="1600" dirty="0"/>
          </a:p>
          <a:p>
            <a:pPr marL="0" indent="0">
              <a:spcAft>
                <a:spcPts val="400"/>
              </a:spcAft>
              <a:buNone/>
            </a:pPr>
            <a:r>
              <a:rPr lang="en-US" sz="1400" dirty="0">
                <a:solidFill>
                  <a:schemeClr val="tx2"/>
                </a:solidFill>
              </a:rPr>
              <a:t>Where it fits and what comes next</a:t>
            </a:r>
            <a:endParaRPr lang="en-US" sz="1600" dirty="0"/>
          </a:p>
        </p:txBody>
      </p:sp>
      <p:sp>
        <p:nvSpPr>
          <p:cNvPr id="33" name="Shape 30"/>
          <p:cNvSpPr/>
          <p:nvPr/>
        </p:nvSpPr>
        <p:spPr>
          <a:xfrm>
            <a:off x="6263640" y="5980176"/>
            <a:ext cx="5394960" cy="0"/>
          </a:xfrm>
          <a:prstGeom prst="line">
            <a:avLst/>
          </a:prstGeom>
          <a:noFill/>
          <a:ln w="9525">
            <a:solidFill>
              <a:srgbClr val="C9C5B9"/>
            </a:solidFill>
            <a:prstDash val="solid"/>
          </a:ln>
        </p:spPr>
        <p:txBody>
          <a:bodyPr/>
          <a:lstStyle/>
          <a:p>
            <a:endParaRPr lang="en-IN"/>
          </a:p>
        </p:txBody>
      </p:sp>
      <p:sp>
        <p:nvSpPr>
          <p:cNvPr id="3"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What is a UART?</a:t>
            </a:r>
            <a:endParaRPr lang="en-US" sz="3200" dirty="0"/>
          </a:p>
        </p:txBody>
      </p:sp>
      <p:sp>
        <p:nvSpPr>
          <p:cNvPr id="4" name="Text 1"/>
          <p:cNvSpPr txBox="1"/>
          <p:nvPr/>
        </p:nvSpPr>
        <p:spPr>
          <a:xfrm>
            <a:off x="548640" y="1280160"/>
            <a:ext cx="5120640" cy="457200"/>
          </a:xfrm>
          <a:prstGeom prst="rect">
            <a:avLst/>
          </a:prstGeom>
          <a:noFill/>
          <a:ln/>
        </p:spPr>
        <p:txBody>
          <a:bodyPr wrap="square" lIns="0" tIns="0" rIns="0" bIns="0" rtlCol="0" anchor="t"/>
          <a:lstStyle/>
          <a:p>
            <a:pPr marL="0" indent="0">
              <a:spcAft>
                <a:spcPts val="400"/>
              </a:spcAft>
              <a:buNone/>
            </a:pPr>
            <a:r>
              <a:rPr lang="en-US" sz="1900" b="1" dirty="0">
                <a:solidFill>
                  <a:schemeClr val="accent1"/>
                </a:solidFill>
                <a:latin typeface="Arial" pitchFamily="34" charset="0"/>
                <a:ea typeface="Arial" pitchFamily="34" charset="-122"/>
                <a:cs typeface="Arial" pitchFamily="34" charset="-120"/>
              </a:rPr>
              <a:t>U</a:t>
            </a:r>
            <a:r>
              <a:rPr lang="en-US" sz="1900" dirty="0">
                <a:solidFill>
                  <a:schemeClr val="tx1"/>
                </a:solidFill>
                <a:latin typeface="Arial" pitchFamily="34" charset="0"/>
                <a:ea typeface="Arial" pitchFamily="34" charset="-122"/>
                <a:cs typeface="Arial" pitchFamily="34" charset="-120"/>
              </a:rPr>
              <a:t>niversal </a:t>
            </a:r>
            <a:r>
              <a:rPr lang="en-US" sz="1900" b="1" dirty="0">
                <a:solidFill>
                  <a:schemeClr val="accent1"/>
                </a:solidFill>
                <a:latin typeface="Arial" pitchFamily="34" charset="0"/>
                <a:ea typeface="Arial" pitchFamily="34" charset="-122"/>
                <a:cs typeface="Arial" pitchFamily="34" charset="-120"/>
              </a:rPr>
              <a:t>A</a:t>
            </a:r>
            <a:r>
              <a:rPr lang="en-US" sz="1900" dirty="0">
                <a:solidFill>
                  <a:schemeClr val="tx1"/>
                </a:solidFill>
                <a:latin typeface="Arial" pitchFamily="34" charset="0"/>
                <a:ea typeface="Arial" pitchFamily="34" charset="-122"/>
                <a:cs typeface="Arial" pitchFamily="34" charset="-120"/>
              </a:rPr>
              <a:t>synchronous </a:t>
            </a:r>
            <a:r>
              <a:rPr lang="en-US" sz="1900" b="1" dirty="0">
                <a:solidFill>
                  <a:schemeClr val="accent1"/>
                </a:solidFill>
                <a:latin typeface="Arial" pitchFamily="34" charset="0"/>
                <a:ea typeface="Arial" pitchFamily="34" charset="-122"/>
                <a:cs typeface="Arial" pitchFamily="34" charset="-120"/>
              </a:rPr>
              <a:t>R</a:t>
            </a:r>
            <a:r>
              <a:rPr lang="en-US" sz="1900" dirty="0">
                <a:solidFill>
                  <a:schemeClr val="tx1"/>
                </a:solidFill>
                <a:latin typeface="Arial" pitchFamily="34" charset="0"/>
                <a:ea typeface="Arial" pitchFamily="34" charset="-122"/>
                <a:cs typeface="Arial" pitchFamily="34" charset="-120"/>
              </a:rPr>
              <a:t>eceiver </a:t>
            </a:r>
            <a:r>
              <a:rPr lang="en-US" sz="1900" b="1" dirty="0">
                <a:solidFill>
                  <a:schemeClr val="accent1"/>
                </a:solidFill>
                <a:latin typeface="Arial" pitchFamily="34" charset="0"/>
                <a:ea typeface="Arial" pitchFamily="34" charset="-122"/>
                <a:cs typeface="Arial" pitchFamily="34" charset="-120"/>
              </a:rPr>
              <a:t>T</a:t>
            </a:r>
            <a:r>
              <a:rPr lang="en-US" sz="1900" dirty="0">
                <a:solidFill>
                  <a:schemeClr val="tx1"/>
                </a:solidFill>
                <a:latin typeface="Arial" pitchFamily="34" charset="0"/>
                <a:ea typeface="Arial" pitchFamily="34" charset="-122"/>
                <a:cs typeface="Arial" pitchFamily="34" charset="-120"/>
              </a:rPr>
              <a:t>ransmitter</a:t>
            </a:r>
            <a:endParaRPr lang="en-US" sz="1900" dirty="0"/>
          </a:p>
        </p:txBody>
      </p:sp>
      <p:sp>
        <p:nvSpPr>
          <p:cNvPr id="5" name="Text 2"/>
          <p:cNvSpPr txBox="1"/>
          <p:nvPr/>
        </p:nvSpPr>
        <p:spPr>
          <a:xfrm>
            <a:off x="548640" y="1828800"/>
            <a:ext cx="4937760" cy="914400"/>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A hardware block that converts parallel data into a serial bit stream for transmission, and converts the received stream back into parallel bytes.</a:t>
            </a:r>
            <a:endParaRPr lang="en-US" sz="1600" dirty="0"/>
          </a:p>
        </p:txBody>
      </p:sp>
      <p:sp>
        <p:nvSpPr>
          <p:cNvPr id="6" name="Text 3"/>
          <p:cNvSpPr txBox="1"/>
          <p:nvPr/>
        </p:nvSpPr>
        <p:spPr>
          <a:xfrm>
            <a:off x="548640" y="2834640"/>
            <a:ext cx="4937760" cy="1828800"/>
          </a:xfrm>
          <a:prstGeom prst="rect">
            <a:avLst/>
          </a:prstGeom>
          <a:noFill/>
          <a:ln/>
        </p:spPr>
        <p:txBody>
          <a:bodyPr wrap="square" lIns="0" tIns="0" rIns="0" bIns="0" rtlCol="0" anchor="t"/>
          <a:lstStyle/>
          <a:p>
            <a:pPr marL="177800" indent="-177800">
              <a:spcAft>
                <a:spcPts val="600"/>
              </a:spcAft>
              <a:buSzPct val="100000"/>
              <a:buChar char="•"/>
            </a:pPr>
            <a:r>
              <a:rPr lang="en-US" sz="1500" b="1" dirty="0">
                <a:solidFill>
                  <a:schemeClr val="tx1"/>
                </a:solidFill>
              </a:rPr>
              <a:t>Universal: </a:t>
            </a:r>
            <a:r>
              <a:rPr lang="en-US" sz="1500" dirty="0">
                <a:solidFill>
                  <a:schemeClr val="tx1"/>
                </a:solidFill>
              </a:rPr>
              <a:t>data width, parity, stop bits and speed are configurable</a:t>
            </a:r>
            <a:endParaRPr lang="en-US" sz="1500" dirty="0"/>
          </a:p>
          <a:p>
            <a:pPr marL="177800" indent="-177800">
              <a:spcAft>
                <a:spcPts val="600"/>
              </a:spcAft>
              <a:buSzPct val="100000"/>
              <a:buChar char="•"/>
            </a:pPr>
            <a:r>
              <a:rPr lang="en-US" sz="1500" b="1" dirty="0">
                <a:solidFill>
                  <a:schemeClr val="tx1"/>
                </a:solidFill>
              </a:rPr>
              <a:t>Asynchronous: </a:t>
            </a:r>
            <a:r>
              <a:rPr lang="en-US" sz="1500" dirty="0">
                <a:solidFill>
                  <a:schemeClr val="tx1"/>
                </a:solidFill>
              </a:rPr>
              <a:t>no clock is sent; each side uses its own clock</a:t>
            </a:r>
            <a:endParaRPr lang="en-US" sz="1500" dirty="0"/>
          </a:p>
          <a:p>
            <a:pPr marL="177800" indent="-177800">
              <a:spcAft>
                <a:spcPts val="600"/>
              </a:spcAft>
              <a:buSzPct val="100000"/>
              <a:buChar char="•"/>
            </a:pPr>
            <a:r>
              <a:rPr lang="en-US" sz="1500" b="1" dirty="0">
                <a:solidFill>
                  <a:schemeClr val="tx1"/>
                </a:solidFill>
              </a:rPr>
              <a:t>Receiver-Transmitter: </a:t>
            </a:r>
            <a:r>
              <a:rPr lang="en-US" sz="1500" dirty="0">
                <a:solidFill>
                  <a:schemeClr val="tx1"/>
                </a:solidFill>
              </a:rPr>
              <a:t>one block handles both directions</a:t>
            </a:r>
            <a:endParaRPr lang="en-US" sz="1500" dirty="0"/>
          </a:p>
        </p:txBody>
      </p:sp>
      <p:sp>
        <p:nvSpPr>
          <p:cNvPr id="7" name="Text 4"/>
          <p:cNvSpPr txBox="1"/>
          <p:nvPr/>
        </p:nvSpPr>
        <p:spPr>
          <a:xfrm>
            <a:off x="548640" y="4892040"/>
            <a:ext cx="4937760" cy="822960"/>
          </a:xfrm>
          <a:prstGeom prst="rect">
            <a:avLst/>
          </a:prstGeom>
          <a:noFill/>
          <a:ln/>
        </p:spPr>
        <p:txBody>
          <a:bodyPr wrap="square" lIns="0" tIns="0" rIns="0" bIns="0" rtlCol="0" anchor="t"/>
          <a:lstStyle/>
          <a:p>
            <a:pPr marL="0" indent="0">
              <a:spcAft>
                <a:spcPts val="400"/>
              </a:spcAft>
              <a:buNone/>
            </a:pPr>
            <a:r>
              <a:rPr lang="en-US" sz="1300" dirty="0">
                <a:solidFill>
                  <a:schemeClr val="tx2"/>
                </a:solidFill>
              </a:rPr>
              <a:t>Common uses: debug consoles, GPS/GSM/Bluetooth modules, bootloaders, RS-232/RS-485 links, FPGA-to-PC communication.</a:t>
            </a:r>
            <a:endParaRPr lang="en-US" sz="1300" dirty="0"/>
          </a:p>
        </p:txBody>
      </p:sp>
      <p:sp>
        <p:nvSpPr>
          <p:cNvPr id="8" name="Text 5"/>
          <p:cNvSpPr txBox="1"/>
          <p:nvPr/>
        </p:nvSpPr>
        <p:spPr>
          <a:xfrm>
            <a:off x="5943600" y="1280160"/>
            <a:ext cx="5669280" cy="36576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Comparison with other serial interfaces</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319131677"/>
              </p:ext>
            </p:extLst>
          </p:nvPr>
        </p:nvGraphicFramePr>
        <p:xfrm>
          <a:off x="5943600" y="1737360"/>
          <a:ext cx="5696712" cy="3584448"/>
        </p:xfrm>
        <a:graphic>
          <a:graphicData uri="http://schemas.openxmlformats.org/drawingml/2006/table">
            <a:tbl>
              <a:tblPr/>
              <a:tblGrid>
                <a:gridCol w="1325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12064">
                <a:tc>
                  <a:txBody>
                    <a:bodyPr/>
                    <a:lstStyle/>
                    <a:p>
                      <a:pPr marL="0" indent="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UART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SPI</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I²C</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0"/>
                  </a:ext>
                </a:extLst>
              </a:tr>
              <a:tr h="512064">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Signal wires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2 (TX, RX)</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 (SDA, SCL)</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Clock line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From master</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From master</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Duplex</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Half</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Topology</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Point-to-point</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Master + chip selects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Multi-device, addressed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Typical speed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9.6 kbps – ~3 Mbps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Tens of Mbps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100 kbps – 3.4 Mbps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Error check</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Parity</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None built in</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ACK bit</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How does UART work without a clock?</a:t>
            </a:r>
            <a:endParaRPr lang="en-US" sz="3200" dirty="0"/>
          </a:p>
        </p:txBody>
      </p:sp>
      <p:sp>
        <p:nvSpPr>
          <p:cNvPr id="4" name="Text 1"/>
          <p:cNvSpPr txBox="1"/>
          <p:nvPr/>
        </p:nvSpPr>
        <p:spPr>
          <a:xfrm>
            <a:off x="548640" y="1188720"/>
            <a:ext cx="11064240" cy="640080"/>
          </a:xfrm>
          <a:prstGeom prst="rect">
            <a:avLst/>
          </a:prstGeom>
          <a:noFill/>
          <a:ln/>
        </p:spPr>
        <p:txBody>
          <a:bodyPr wrap="square" lIns="0" tIns="0" rIns="0" bIns="0" rtlCol="0" anchor="t"/>
          <a:lstStyle/>
          <a:p>
            <a:pPr marL="0" indent="0">
              <a:spcAft>
                <a:spcPts val="400"/>
              </a:spcAft>
              <a:buNone/>
            </a:pPr>
            <a:r>
              <a:rPr lang="en-US" sz="1700" dirty="0">
                <a:solidFill>
                  <a:schemeClr val="tx2"/>
                </a:solidFill>
              </a:rPr>
              <a:t>Both devices are set to the same baud rate in advance. Each uses its own local clock, and the receiver resynchronizes on the start bit of every frame.</a:t>
            </a:r>
            <a:endParaRPr lang="en-US" sz="1700" dirty="0"/>
          </a:p>
        </p:txBody>
      </p:sp>
      <p:sp>
        <p:nvSpPr>
          <p:cNvPr id="5" name="Text 2"/>
          <p:cNvSpPr txBox="1"/>
          <p:nvPr/>
        </p:nvSpPr>
        <p:spPr>
          <a:xfrm>
            <a:off x="548640" y="1920240"/>
            <a:ext cx="5394960" cy="32004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Synchronous (e.g. SPI)</a:t>
            </a:r>
            <a:endParaRPr lang="en-US" sz="1500" dirty="0"/>
          </a:p>
        </p:txBody>
      </p:sp>
      <p:pic>
        <p:nvPicPr>
          <p:cNvPr id="6" name="Image 0" descr="async sync"/>
          <p:cNvPicPr>
            <a:picLocks noChangeAspect="1"/>
          </p:cNvPicPr>
          <p:nvPr/>
        </p:nvPicPr>
        <p:blipFill>
          <a:blip r:embed="rId3"/>
          <a:stretch>
            <a:fillRect/>
          </a:stretch>
        </p:blipFill>
        <p:spPr>
          <a:xfrm>
            <a:off x="548640" y="2286000"/>
            <a:ext cx="5394960" cy="2034671"/>
          </a:xfrm>
          <a:prstGeom prst="rect">
            <a:avLst/>
          </a:prstGeom>
        </p:spPr>
      </p:pic>
      <p:sp>
        <p:nvSpPr>
          <p:cNvPr id="7" name="Text 3"/>
          <p:cNvSpPr txBox="1"/>
          <p:nvPr/>
        </p:nvSpPr>
        <p:spPr>
          <a:xfrm>
            <a:off x="6245352" y="1920240"/>
            <a:ext cx="5394960" cy="32004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rPr>
              <a:t>Asynchronous (UART)</a:t>
            </a:r>
            <a:endParaRPr lang="en-US" sz="1500" dirty="0"/>
          </a:p>
        </p:txBody>
      </p:sp>
      <p:pic>
        <p:nvPicPr>
          <p:cNvPr id="8" name="Image 1" descr="async uart"/>
          <p:cNvPicPr>
            <a:picLocks noChangeAspect="1"/>
          </p:cNvPicPr>
          <p:nvPr/>
        </p:nvPicPr>
        <p:blipFill>
          <a:blip r:embed="rId4"/>
          <a:stretch>
            <a:fillRect/>
          </a:stretch>
        </p:blipFill>
        <p:spPr>
          <a:xfrm>
            <a:off x="6245352" y="2286000"/>
            <a:ext cx="5394960" cy="2034671"/>
          </a:xfrm>
          <a:prstGeom prst="rect">
            <a:avLst/>
          </a:prstGeom>
        </p:spPr>
      </p:pic>
      <p:sp>
        <p:nvSpPr>
          <p:cNvPr id="9" name="Text 4"/>
          <p:cNvSpPr txBox="1"/>
          <p:nvPr/>
        </p:nvSpPr>
        <p:spPr>
          <a:xfrm>
            <a:off x="548640" y="4572000"/>
            <a:ext cx="2606040" cy="118872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Idle is high</a:t>
            </a:r>
            <a:endParaRPr lang="en-US" sz="1500" dirty="0"/>
          </a:p>
          <a:p>
            <a:pPr marL="0" indent="0">
              <a:spcAft>
                <a:spcPts val="400"/>
              </a:spcAft>
              <a:buNone/>
            </a:pPr>
            <a:r>
              <a:rPr lang="en-US" sz="1500" dirty="0">
                <a:solidFill>
                  <a:schemeClr val="tx2"/>
                </a:solidFill>
              </a:rPr>
              <a:t>The line rests at logic 1 between frames.</a:t>
            </a:r>
            <a:endParaRPr lang="en-US" sz="1500" dirty="0"/>
          </a:p>
        </p:txBody>
      </p:sp>
      <p:sp>
        <p:nvSpPr>
          <p:cNvPr id="10" name="Text 5"/>
          <p:cNvSpPr txBox="1"/>
          <p:nvPr/>
        </p:nvSpPr>
        <p:spPr>
          <a:xfrm>
            <a:off x="3364992" y="4572000"/>
            <a:ext cx="2606040" cy="118872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Start bit resyncs</a:t>
            </a:r>
            <a:endParaRPr lang="en-US" sz="1500" dirty="0"/>
          </a:p>
          <a:p>
            <a:pPr marL="0" indent="0">
              <a:spcAft>
                <a:spcPts val="400"/>
              </a:spcAft>
              <a:buNone/>
            </a:pPr>
            <a:r>
              <a:rPr lang="en-US" sz="1500" dirty="0">
                <a:solidFill>
                  <a:schemeClr val="tx2"/>
                </a:solidFill>
              </a:rPr>
              <a:t>Its falling edge marks time zero for each frame.</a:t>
            </a:r>
            <a:endParaRPr lang="en-US" sz="1500" dirty="0"/>
          </a:p>
        </p:txBody>
      </p:sp>
      <p:sp>
        <p:nvSpPr>
          <p:cNvPr id="11" name="Text 6"/>
          <p:cNvSpPr txBox="1"/>
          <p:nvPr/>
        </p:nvSpPr>
        <p:spPr>
          <a:xfrm>
            <a:off x="6181344" y="4572000"/>
            <a:ext cx="2606040" cy="118872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Drift is bounded</a:t>
            </a:r>
            <a:endParaRPr lang="en-US" sz="1500" dirty="0"/>
          </a:p>
          <a:p>
            <a:pPr marL="0" indent="0">
              <a:spcAft>
                <a:spcPts val="400"/>
              </a:spcAft>
              <a:buNone/>
            </a:pPr>
            <a:r>
              <a:rPr lang="en-US" sz="1500" dirty="0">
                <a:solidFill>
                  <a:schemeClr val="tx2"/>
                </a:solidFill>
              </a:rPr>
              <a:t>Clock error builds up over only ~10 bits.</a:t>
            </a:r>
            <a:endParaRPr lang="en-US" sz="1500" dirty="0"/>
          </a:p>
        </p:txBody>
      </p:sp>
      <p:sp>
        <p:nvSpPr>
          <p:cNvPr id="12" name="Text 7"/>
          <p:cNvSpPr txBox="1"/>
          <p:nvPr/>
        </p:nvSpPr>
        <p:spPr>
          <a:xfrm>
            <a:off x="8997696" y="4572000"/>
            <a:ext cx="2606040" cy="118872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Cost: overhead</a:t>
            </a:r>
            <a:endParaRPr lang="en-US" sz="1500" dirty="0"/>
          </a:p>
          <a:p>
            <a:pPr marL="0" indent="0">
              <a:spcAft>
                <a:spcPts val="400"/>
              </a:spcAft>
              <a:buNone/>
            </a:pPr>
            <a:r>
              <a:rPr lang="en-US" sz="1500" dirty="0">
                <a:solidFill>
                  <a:schemeClr val="tx2"/>
                </a:solidFill>
              </a:rPr>
              <a:t>Start and stop bits use at least 20% of the line.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The UART frame(data frame): 0x4B, 8E1, LSB first</a:t>
            </a:r>
            <a:endParaRPr lang="en-US" sz="3200" dirty="0"/>
          </a:p>
        </p:txBody>
      </p:sp>
      <p:pic>
        <p:nvPicPr>
          <p:cNvPr id="4" name="Image 0" descr="frame"/>
          <p:cNvPicPr>
            <a:picLocks noChangeAspect="1"/>
          </p:cNvPicPr>
          <p:nvPr/>
        </p:nvPicPr>
        <p:blipFill>
          <a:blip r:embed="rId3"/>
          <a:stretch>
            <a:fillRect/>
          </a:stretch>
        </p:blipFill>
        <p:spPr>
          <a:xfrm>
            <a:off x="566928" y="1303548"/>
            <a:ext cx="11091672" cy="1919712"/>
          </a:xfrm>
          <a:prstGeom prst="rect">
            <a:avLst/>
          </a:prstGeom>
        </p:spPr>
      </p:pic>
      <p:sp>
        <p:nvSpPr>
          <p:cNvPr id="5" name="Shape 1"/>
          <p:cNvSpPr/>
          <p:nvPr/>
        </p:nvSpPr>
        <p:spPr>
          <a:xfrm>
            <a:off x="548640" y="3291840"/>
            <a:ext cx="11091672" cy="0"/>
          </a:xfrm>
          <a:prstGeom prst="line">
            <a:avLst/>
          </a:prstGeom>
          <a:noFill/>
          <a:ln w="9525">
            <a:solidFill>
              <a:srgbClr val="C9C5B9"/>
            </a:solidFill>
            <a:prstDash val="solid"/>
          </a:ln>
        </p:spPr>
        <p:txBody>
          <a:bodyPr/>
          <a:lstStyle/>
          <a:p>
            <a:endParaRPr lang="en-IN"/>
          </a:p>
        </p:txBody>
      </p:sp>
      <p:sp>
        <p:nvSpPr>
          <p:cNvPr id="6" name="Text 2"/>
          <p:cNvSpPr txBox="1"/>
          <p:nvPr/>
        </p:nvSpPr>
        <p:spPr>
          <a:xfrm>
            <a:off x="548640" y="3429000"/>
            <a:ext cx="2651760" cy="274320"/>
          </a:xfrm>
          <a:prstGeom prst="rect">
            <a:avLst/>
          </a:prstGeom>
          <a:noFill/>
          <a:ln/>
        </p:spPr>
        <p:txBody>
          <a:bodyPr wrap="square" lIns="0" tIns="0" rIns="0" bIns="0" rtlCol="0" anchor="t"/>
          <a:lstStyle/>
          <a:p>
            <a:pPr marL="0" indent="0">
              <a:spcAft>
                <a:spcPts val="400"/>
              </a:spcAft>
              <a:buNone/>
            </a:pPr>
            <a:r>
              <a:rPr lang="en-US" sz="1200" dirty="0">
                <a:solidFill>
                  <a:schemeClr val="tx2"/>
                </a:solidFill>
              </a:rPr>
              <a:t>Binary (MSB→LSB)</a:t>
            </a:r>
            <a:endParaRPr lang="en-US" sz="1200" dirty="0"/>
          </a:p>
        </p:txBody>
      </p:sp>
      <p:sp>
        <p:nvSpPr>
          <p:cNvPr id="7" name="Text 3"/>
          <p:cNvSpPr txBox="1"/>
          <p:nvPr/>
        </p:nvSpPr>
        <p:spPr>
          <a:xfrm>
            <a:off x="548640" y="3749040"/>
            <a:ext cx="2651760" cy="82296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Courier New" pitchFamily="34" charset="0"/>
                <a:ea typeface="Courier New" pitchFamily="34" charset="-122"/>
                <a:cs typeface="Courier New" pitchFamily="34" charset="-120"/>
              </a:rPr>
              <a:t>0100 1011</a:t>
            </a:r>
            <a:endParaRPr lang="en-US" sz="1900" dirty="0"/>
          </a:p>
        </p:txBody>
      </p:sp>
      <p:sp>
        <p:nvSpPr>
          <p:cNvPr id="8" name="Text 4"/>
          <p:cNvSpPr txBox="1"/>
          <p:nvPr/>
        </p:nvSpPr>
        <p:spPr>
          <a:xfrm>
            <a:off x="3364992" y="3429000"/>
            <a:ext cx="2651760" cy="274320"/>
          </a:xfrm>
          <a:prstGeom prst="rect">
            <a:avLst/>
          </a:prstGeom>
          <a:noFill/>
          <a:ln/>
        </p:spPr>
        <p:txBody>
          <a:bodyPr wrap="square" lIns="0" tIns="0" rIns="0" bIns="0" rtlCol="0" anchor="t"/>
          <a:lstStyle/>
          <a:p>
            <a:pPr marL="0" indent="0">
              <a:spcAft>
                <a:spcPts val="400"/>
              </a:spcAft>
              <a:buNone/>
            </a:pPr>
            <a:r>
              <a:rPr lang="en-US" sz="1200" dirty="0">
                <a:solidFill>
                  <a:schemeClr val="tx2"/>
                </a:solidFill>
              </a:rPr>
              <a:t>Order on the wire</a:t>
            </a:r>
            <a:endParaRPr lang="en-US" sz="1200" dirty="0"/>
          </a:p>
        </p:txBody>
      </p:sp>
      <p:sp>
        <p:nvSpPr>
          <p:cNvPr id="9" name="Text 5"/>
          <p:cNvSpPr txBox="1"/>
          <p:nvPr/>
        </p:nvSpPr>
        <p:spPr>
          <a:xfrm>
            <a:off x="3364992" y="3749040"/>
            <a:ext cx="2651760" cy="82296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Courier New" pitchFamily="34" charset="0"/>
                <a:ea typeface="Courier New" pitchFamily="34" charset="-122"/>
                <a:cs typeface="Courier New" pitchFamily="34" charset="-120"/>
              </a:rPr>
              <a:t>1 1 0 1 0 0 1 0</a:t>
            </a:r>
            <a:endParaRPr lang="en-US" sz="1900" dirty="0"/>
          </a:p>
        </p:txBody>
      </p:sp>
      <p:sp>
        <p:nvSpPr>
          <p:cNvPr id="10" name="Text 6"/>
          <p:cNvSpPr txBox="1"/>
          <p:nvPr/>
        </p:nvSpPr>
        <p:spPr>
          <a:xfrm>
            <a:off x="6181344" y="3429000"/>
            <a:ext cx="2651760" cy="274320"/>
          </a:xfrm>
          <a:prstGeom prst="rect">
            <a:avLst/>
          </a:prstGeom>
          <a:noFill/>
          <a:ln/>
        </p:spPr>
        <p:txBody>
          <a:bodyPr wrap="square" lIns="0" tIns="0" rIns="0" bIns="0" rtlCol="0" anchor="t"/>
          <a:lstStyle/>
          <a:p>
            <a:pPr marL="0" indent="0">
              <a:spcAft>
                <a:spcPts val="400"/>
              </a:spcAft>
              <a:buNone/>
            </a:pPr>
            <a:r>
              <a:rPr lang="en-US" sz="1200" dirty="0">
                <a:solidFill>
                  <a:schemeClr val="tx2"/>
                </a:solidFill>
              </a:rPr>
              <a:t>Parity reasoning(optional)</a:t>
            </a:r>
            <a:endParaRPr lang="en-US" sz="1200" dirty="0"/>
          </a:p>
        </p:txBody>
      </p:sp>
      <p:sp>
        <p:nvSpPr>
          <p:cNvPr id="11" name="Text 7"/>
          <p:cNvSpPr txBox="1"/>
          <p:nvPr/>
        </p:nvSpPr>
        <p:spPr>
          <a:xfrm>
            <a:off x="6181344" y="3749040"/>
            <a:ext cx="2651760" cy="82296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4 ones in data → even parity bit 0 keeps the total even</a:t>
            </a:r>
            <a:endParaRPr lang="en-US" sz="1500" dirty="0"/>
          </a:p>
        </p:txBody>
      </p:sp>
      <p:sp>
        <p:nvSpPr>
          <p:cNvPr id="12" name="Text 8"/>
          <p:cNvSpPr txBox="1"/>
          <p:nvPr/>
        </p:nvSpPr>
        <p:spPr>
          <a:xfrm>
            <a:off x="8997696" y="3429000"/>
            <a:ext cx="2651760" cy="274320"/>
          </a:xfrm>
          <a:prstGeom prst="rect">
            <a:avLst/>
          </a:prstGeom>
          <a:noFill/>
          <a:ln/>
        </p:spPr>
        <p:txBody>
          <a:bodyPr wrap="square" lIns="0" tIns="0" rIns="0" bIns="0" rtlCol="0" anchor="t"/>
          <a:lstStyle/>
          <a:p>
            <a:pPr marL="0" indent="0">
              <a:spcAft>
                <a:spcPts val="400"/>
              </a:spcAft>
              <a:buNone/>
            </a:pPr>
            <a:r>
              <a:rPr lang="en-US" sz="1200" dirty="0">
                <a:solidFill>
                  <a:schemeClr val="tx2"/>
                </a:solidFill>
              </a:rPr>
              <a:t>Line efficiency</a:t>
            </a:r>
            <a:endParaRPr lang="en-US" sz="1200" dirty="0"/>
          </a:p>
        </p:txBody>
      </p:sp>
      <p:sp>
        <p:nvSpPr>
          <p:cNvPr id="13" name="Text 9"/>
          <p:cNvSpPr txBox="1"/>
          <p:nvPr/>
        </p:nvSpPr>
        <p:spPr>
          <a:xfrm>
            <a:off x="8997696" y="3749040"/>
            <a:ext cx="2651760" cy="82296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Courier New" pitchFamily="34" charset="0"/>
                <a:ea typeface="Courier New" pitchFamily="34" charset="-122"/>
                <a:cs typeface="Courier New" pitchFamily="34" charset="-120"/>
              </a:rPr>
              <a:t>8 / 11 bits = 72.7%</a:t>
            </a:r>
            <a:endParaRPr lang="en-US" sz="1900" dirty="0"/>
          </a:p>
        </p:txBody>
      </p:sp>
      <p:sp>
        <p:nvSpPr>
          <p:cNvPr id="14" name="Shape 10"/>
          <p:cNvSpPr/>
          <p:nvPr/>
        </p:nvSpPr>
        <p:spPr>
          <a:xfrm>
            <a:off x="548640" y="4846320"/>
            <a:ext cx="11091672" cy="1097280"/>
          </a:xfrm>
          <a:prstGeom prst="rect">
            <a:avLst/>
          </a:prstGeom>
          <a:solidFill>
            <a:schemeClr val="accent5"/>
          </a:solidFill>
          <a:ln w="12700">
            <a:solidFill>
              <a:schemeClr val="accent5"/>
            </a:solidFill>
            <a:prstDash val="solid"/>
          </a:ln>
        </p:spPr>
        <p:txBody>
          <a:bodyPr/>
          <a:lstStyle/>
          <a:p>
            <a:endParaRPr lang="en-IN"/>
          </a:p>
        </p:txBody>
      </p:sp>
      <p:sp>
        <p:nvSpPr>
          <p:cNvPr id="15" name="Text 11"/>
          <p:cNvSpPr txBox="1"/>
          <p:nvPr/>
        </p:nvSpPr>
        <p:spPr>
          <a:xfrm>
            <a:off x="777240" y="4983480"/>
            <a:ext cx="10607040" cy="822960"/>
          </a:xfrm>
          <a:prstGeom prst="rect">
            <a:avLst/>
          </a:prstGeom>
          <a:noFill/>
          <a:ln/>
        </p:spPr>
        <p:txBody>
          <a:bodyPr wrap="square" lIns="0" tIns="0" rIns="0" bIns="0" rtlCol="0" anchor="ctr"/>
          <a:lstStyle/>
          <a:p>
            <a:pPr marL="0" indent="0">
              <a:spcAft>
                <a:spcPts val="400"/>
              </a:spcAft>
              <a:buNone/>
            </a:pPr>
            <a:r>
              <a:rPr lang="en-US" sz="1500" b="1" dirty="0">
                <a:solidFill>
                  <a:schemeClr val="tx1"/>
                </a:solidFill>
              </a:rPr>
              <a:t>Why the stop bit matters: </a:t>
            </a:r>
            <a:r>
              <a:rPr lang="en-US" sz="1500" dirty="0">
                <a:solidFill>
                  <a:schemeClr val="tx1"/>
                </a:solidFill>
              </a:rPr>
              <a:t>for 0x00 the line would stay low for nine bit times. The stop bit forces it high again, so the receiver always gets a clean falling edge for the next start bit.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Each field in the frame has one job</a:t>
            </a:r>
            <a:endParaRPr lang="en-US" sz="3200" dirty="0"/>
          </a:p>
        </p:txBody>
      </p:sp>
      <p:sp>
        <p:nvSpPr>
          <p:cNvPr id="4" name="Text 1"/>
          <p:cNvSpPr txBox="1"/>
          <p:nvPr/>
        </p:nvSpPr>
        <p:spPr>
          <a:xfrm>
            <a:off x="548640" y="1371600"/>
            <a:ext cx="2651760" cy="548640"/>
          </a:xfrm>
          <a:prstGeom prst="rect">
            <a:avLst/>
          </a:prstGeom>
          <a:noFill/>
          <a:ln/>
        </p:spPr>
        <p:txBody>
          <a:bodyPr wrap="square" lIns="0" tIns="0" rIns="0" bIns="0" rtlCol="0" anchor="t"/>
          <a:lstStyle/>
          <a:p>
            <a:pPr marL="0" indent="0">
              <a:spcAft>
                <a:spcPts val="400"/>
              </a:spcAft>
              <a:buNone/>
            </a:pPr>
            <a:r>
              <a:rPr lang="en-US" sz="2800" b="1" dirty="0">
                <a:solidFill>
                  <a:schemeClr val="accent1"/>
                </a:solidFill>
                <a:latin typeface="Courier New" pitchFamily="34" charset="0"/>
                <a:ea typeface="Courier New" pitchFamily="34" charset="-122"/>
                <a:cs typeface="Courier New" pitchFamily="34" charset="-120"/>
              </a:rPr>
              <a:t>0</a:t>
            </a:r>
            <a:endParaRPr lang="en-US" sz="2800" dirty="0"/>
          </a:p>
        </p:txBody>
      </p:sp>
      <p:sp>
        <p:nvSpPr>
          <p:cNvPr id="5" name="Text 2"/>
          <p:cNvSpPr txBox="1"/>
          <p:nvPr/>
        </p:nvSpPr>
        <p:spPr>
          <a:xfrm>
            <a:off x="548640" y="2011680"/>
            <a:ext cx="2651760" cy="41148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Arial" pitchFamily="34" charset="0"/>
                <a:ea typeface="Arial" pitchFamily="34" charset="-122"/>
                <a:cs typeface="Arial" pitchFamily="34" charset="-120"/>
              </a:rPr>
              <a:t>Start bit</a:t>
            </a:r>
            <a:endParaRPr lang="en-US" sz="1900" dirty="0"/>
          </a:p>
        </p:txBody>
      </p:sp>
      <p:sp>
        <p:nvSpPr>
          <p:cNvPr id="6" name="Text 3"/>
          <p:cNvSpPr txBox="1"/>
          <p:nvPr/>
        </p:nvSpPr>
        <p:spPr>
          <a:xfrm>
            <a:off x="548640" y="2514600"/>
            <a:ext cx="2606040" cy="2011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Always logic 0, one bit long</a:t>
            </a:r>
            <a:endParaRPr lang="en-US" sz="1500" dirty="0"/>
          </a:p>
          <a:p>
            <a:pPr marL="177800" indent="-177800">
              <a:spcAft>
                <a:spcPts val="600"/>
              </a:spcAft>
              <a:buSzPct val="100000"/>
              <a:buChar char="•"/>
            </a:pPr>
            <a:r>
              <a:rPr lang="en-US" sz="1500" dirty="0">
                <a:solidFill>
                  <a:schemeClr val="tx1"/>
                </a:solidFill>
              </a:rPr>
              <a:t>Falling edge marks the frame start</a:t>
            </a:r>
            <a:endParaRPr lang="en-US" sz="1500" dirty="0"/>
          </a:p>
          <a:p>
            <a:pPr marL="177800" indent="-177800">
              <a:spcAft>
                <a:spcPts val="600"/>
              </a:spcAft>
              <a:buSzPct val="100000"/>
              <a:buChar char="•"/>
            </a:pPr>
            <a:r>
              <a:rPr lang="en-US" sz="1500" dirty="0">
                <a:solidFill>
                  <a:schemeClr val="tx1"/>
                </a:solidFill>
              </a:rPr>
              <a:t>Rechecked at mid-bit to reject noise</a:t>
            </a:r>
            <a:endParaRPr lang="en-US" sz="1500" dirty="0"/>
          </a:p>
        </p:txBody>
      </p:sp>
      <p:sp>
        <p:nvSpPr>
          <p:cNvPr id="7" name="Text 4"/>
          <p:cNvSpPr txBox="1"/>
          <p:nvPr/>
        </p:nvSpPr>
        <p:spPr>
          <a:xfrm>
            <a:off x="3364992" y="1371600"/>
            <a:ext cx="2651760" cy="548640"/>
          </a:xfrm>
          <a:prstGeom prst="rect">
            <a:avLst/>
          </a:prstGeom>
          <a:noFill/>
          <a:ln/>
        </p:spPr>
        <p:txBody>
          <a:bodyPr wrap="square" lIns="0" tIns="0" rIns="0" bIns="0" rtlCol="0" anchor="t"/>
          <a:lstStyle/>
          <a:p>
            <a:pPr marL="0" indent="0">
              <a:spcAft>
                <a:spcPts val="400"/>
              </a:spcAft>
              <a:buNone/>
            </a:pPr>
            <a:r>
              <a:rPr lang="en-US" sz="2800" b="1" dirty="0">
                <a:solidFill>
                  <a:schemeClr val="tx1"/>
                </a:solidFill>
                <a:latin typeface="Courier New" pitchFamily="34" charset="0"/>
                <a:ea typeface="Courier New" pitchFamily="34" charset="-122"/>
                <a:cs typeface="Courier New" pitchFamily="34" charset="-120"/>
              </a:rPr>
              <a:t>D0–D7</a:t>
            </a:r>
            <a:endParaRPr lang="en-US" sz="2800" dirty="0"/>
          </a:p>
        </p:txBody>
      </p:sp>
      <p:sp>
        <p:nvSpPr>
          <p:cNvPr id="8" name="Text 5"/>
          <p:cNvSpPr txBox="1"/>
          <p:nvPr/>
        </p:nvSpPr>
        <p:spPr>
          <a:xfrm>
            <a:off x="3364992" y="2011680"/>
            <a:ext cx="2651760" cy="41148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Arial" pitchFamily="34" charset="0"/>
                <a:ea typeface="Arial" pitchFamily="34" charset="-122"/>
                <a:cs typeface="Arial" pitchFamily="34" charset="-120"/>
              </a:rPr>
              <a:t>Data bits</a:t>
            </a:r>
            <a:endParaRPr lang="en-US" sz="1900" dirty="0"/>
          </a:p>
        </p:txBody>
      </p:sp>
      <p:sp>
        <p:nvSpPr>
          <p:cNvPr id="9" name="Text 6"/>
          <p:cNvSpPr txBox="1"/>
          <p:nvPr/>
        </p:nvSpPr>
        <p:spPr>
          <a:xfrm>
            <a:off x="3364992" y="2514600"/>
            <a:ext cx="2606040" cy="2011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5 to 9 bits in general; 8 here</a:t>
            </a:r>
            <a:endParaRPr lang="en-US" sz="1500" dirty="0"/>
          </a:p>
          <a:p>
            <a:pPr marL="177800" indent="-177800">
              <a:spcAft>
                <a:spcPts val="600"/>
              </a:spcAft>
              <a:buSzPct val="100000"/>
              <a:buChar char="•"/>
            </a:pPr>
            <a:r>
              <a:rPr lang="en-US" sz="1500" dirty="0">
                <a:solidFill>
                  <a:schemeClr val="tx1"/>
                </a:solidFill>
              </a:rPr>
              <a:t>Sent LSB first</a:t>
            </a:r>
            <a:endParaRPr lang="en-US" sz="1500" dirty="0"/>
          </a:p>
          <a:p>
            <a:pPr marL="177800" indent="-177800">
              <a:spcAft>
                <a:spcPts val="600"/>
              </a:spcAft>
              <a:buSzPct val="100000"/>
              <a:buChar char="•"/>
            </a:pPr>
            <a:r>
              <a:rPr lang="en-US" sz="1500" dirty="0">
                <a:solidFill>
                  <a:schemeClr val="tx1"/>
                </a:solidFill>
              </a:rPr>
              <a:t>Each held for one bit period</a:t>
            </a:r>
            <a:endParaRPr lang="en-US" sz="1500" dirty="0"/>
          </a:p>
        </p:txBody>
      </p:sp>
      <p:sp>
        <p:nvSpPr>
          <p:cNvPr id="10" name="Text 7"/>
          <p:cNvSpPr txBox="1"/>
          <p:nvPr/>
        </p:nvSpPr>
        <p:spPr>
          <a:xfrm>
            <a:off x="6181344" y="1371600"/>
            <a:ext cx="2651760" cy="548640"/>
          </a:xfrm>
          <a:prstGeom prst="rect">
            <a:avLst/>
          </a:prstGeom>
          <a:noFill/>
          <a:ln/>
        </p:spPr>
        <p:txBody>
          <a:bodyPr wrap="square" lIns="0" tIns="0" rIns="0" bIns="0" rtlCol="0" anchor="t"/>
          <a:lstStyle/>
          <a:p>
            <a:pPr marL="0" indent="0">
              <a:spcAft>
                <a:spcPts val="400"/>
              </a:spcAft>
              <a:buNone/>
            </a:pPr>
            <a:r>
              <a:rPr lang="en-US" sz="2800" b="1" dirty="0">
                <a:solidFill>
                  <a:schemeClr val="tx1"/>
                </a:solidFill>
                <a:latin typeface="Courier New" pitchFamily="34" charset="0"/>
                <a:ea typeface="Courier New" pitchFamily="34" charset="-122"/>
                <a:cs typeface="Courier New" pitchFamily="34" charset="-120"/>
              </a:rPr>
              <a:t>P</a:t>
            </a:r>
            <a:endParaRPr lang="en-US" sz="2800" dirty="0"/>
          </a:p>
        </p:txBody>
      </p:sp>
      <p:sp>
        <p:nvSpPr>
          <p:cNvPr id="11" name="Text 8"/>
          <p:cNvSpPr txBox="1"/>
          <p:nvPr/>
        </p:nvSpPr>
        <p:spPr>
          <a:xfrm>
            <a:off x="6181344" y="2011680"/>
            <a:ext cx="2651760" cy="41148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Arial" pitchFamily="34" charset="0"/>
                <a:ea typeface="Arial" pitchFamily="34" charset="-122"/>
                <a:cs typeface="Arial" pitchFamily="34" charset="-120"/>
              </a:rPr>
              <a:t>Parity bit</a:t>
            </a:r>
            <a:endParaRPr lang="en-US" sz="1900" dirty="0"/>
          </a:p>
        </p:txBody>
      </p:sp>
      <p:sp>
        <p:nvSpPr>
          <p:cNvPr id="12" name="Text 9"/>
          <p:cNvSpPr txBox="1"/>
          <p:nvPr/>
        </p:nvSpPr>
        <p:spPr>
          <a:xfrm>
            <a:off x="6181344" y="2514600"/>
            <a:ext cx="2606040" cy="2011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Optional: none, even or odd</a:t>
            </a:r>
            <a:endParaRPr lang="en-US" sz="1500" dirty="0"/>
          </a:p>
          <a:p>
            <a:pPr marL="177800" indent="-177800">
              <a:spcAft>
                <a:spcPts val="600"/>
              </a:spcAft>
              <a:buSzPct val="100000"/>
              <a:buChar char="•"/>
            </a:pPr>
            <a:r>
              <a:rPr lang="en-US" sz="1500" dirty="0">
                <a:solidFill>
                  <a:schemeClr val="tx1"/>
                </a:solidFill>
              </a:rPr>
              <a:t>Makes the count of 1s even or odd</a:t>
            </a:r>
            <a:endParaRPr lang="en-US" sz="1500" dirty="0"/>
          </a:p>
          <a:p>
            <a:pPr marL="177800" indent="-177800">
              <a:spcAft>
                <a:spcPts val="600"/>
              </a:spcAft>
              <a:buSzPct val="100000"/>
              <a:buChar char="•"/>
            </a:pPr>
            <a:r>
              <a:rPr lang="en-US" sz="1500" dirty="0">
                <a:solidFill>
                  <a:schemeClr val="tx1"/>
                </a:solidFill>
              </a:rPr>
              <a:t>Detects any single-bit error</a:t>
            </a:r>
            <a:endParaRPr lang="en-US" sz="1500" dirty="0"/>
          </a:p>
        </p:txBody>
      </p:sp>
      <p:sp>
        <p:nvSpPr>
          <p:cNvPr id="13" name="Text 10"/>
          <p:cNvSpPr txBox="1"/>
          <p:nvPr/>
        </p:nvSpPr>
        <p:spPr>
          <a:xfrm>
            <a:off x="8997696" y="1371600"/>
            <a:ext cx="2651760" cy="548640"/>
          </a:xfrm>
          <a:prstGeom prst="rect">
            <a:avLst/>
          </a:prstGeom>
          <a:noFill/>
          <a:ln/>
        </p:spPr>
        <p:txBody>
          <a:bodyPr wrap="square" lIns="0" tIns="0" rIns="0" bIns="0" rtlCol="0" anchor="t"/>
          <a:lstStyle/>
          <a:p>
            <a:pPr marL="0" indent="0">
              <a:spcAft>
                <a:spcPts val="400"/>
              </a:spcAft>
              <a:buNone/>
            </a:pPr>
            <a:r>
              <a:rPr lang="en-US" sz="2800" b="1" dirty="0">
                <a:solidFill>
                  <a:schemeClr val="accent1"/>
                </a:solidFill>
                <a:latin typeface="Courier New" pitchFamily="34" charset="0"/>
                <a:ea typeface="Courier New" pitchFamily="34" charset="-122"/>
                <a:cs typeface="Courier New" pitchFamily="34" charset="-120"/>
              </a:rPr>
              <a:t>1</a:t>
            </a:r>
            <a:endParaRPr lang="en-US" sz="2800" dirty="0"/>
          </a:p>
        </p:txBody>
      </p:sp>
      <p:sp>
        <p:nvSpPr>
          <p:cNvPr id="14" name="Text 11"/>
          <p:cNvSpPr txBox="1"/>
          <p:nvPr/>
        </p:nvSpPr>
        <p:spPr>
          <a:xfrm>
            <a:off x="8997696" y="2011680"/>
            <a:ext cx="2651760" cy="411480"/>
          </a:xfrm>
          <a:prstGeom prst="rect">
            <a:avLst/>
          </a:prstGeom>
          <a:noFill/>
          <a:ln/>
        </p:spPr>
        <p:txBody>
          <a:bodyPr wrap="square" lIns="0" tIns="0" rIns="0" bIns="0" rtlCol="0" anchor="t"/>
          <a:lstStyle/>
          <a:p>
            <a:pPr marL="0" indent="0">
              <a:spcAft>
                <a:spcPts val="400"/>
              </a:spcAft>
              <a:buNone/>
            </a:pPr>
            <a:r>
              <a:rPr lang="en-US" sz="1900" b="1" dirty="0">
                <a:solidFill>
                  <a:schemeClr val="tx1"/>
                </a:solidFill>
                <a:latin typeface="Arial" pitchFamily="34" charset="0"/>
                <a:ea typeface="Arial" pitchFamily="34" charset="-122"/>
                <a:cs typeface="Arial" pitchFamily="34" charset="-120"/>
              </a:rPr>
              <a:t>Stop bit</a:t>
            </a:r>
            <a:endParaRPr lang="en-US" sz="1900" dirty="0"/>
          </a:p>
        </p:txBody>
      </p:sp>
      <p:sp>
        <p:nvSpPr>
          <p:cNvPr id="15" name="Text 12"/>
          <p:cNvSpPr txBox="1"/>
          <p:nvPr/>
        </p:nvSpPr>
        <p:spPr>
          <a:xfrm>
            <a:off x="8997696" y="2514600"/>
            <a:ext cx="2606040" cy="20116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Logic 1 for 1, 1.5 or 2 bits; 1 here</a:t>
            </a:r>
            <a:endParaRPr lang="en-US" sz="1500" dirty="0"/>
          </a:p>
          <a:p>
            <a:pPr marL="177800" indent="-177800">
              <a:spcAft>
                <a:spcPts val="600"/>
              </a:spcAft>
              <a:buSzPct val="100000"/>
              <a:buChar char="•"/>
            </a:pPr>
            <a:r>
              <a:rPr lang="en-US" sz="1500" dirty="0">
                <a:solidFill>
                  <a:schemeClr val="tx1"/>
                </a:solidFill>
              </a:rPr>
              <a:t>Returns the line to idle</a:t>
            </a:r>
            <a:endParaRPr lang="en-US" sz="1500" dirty="0"/>
          </a:p>
          <a:p>
            <a:pPr marL="177800" indent="-177800">
              <a:spcAft>
                <a:spcPts val="600"/>
              </a:spcAft>
              <a:buSzPct val="100000"/>
              <a:buChar char="•"/>
            </a:pPr>
            <a:r>
              <a:rPr lang="en-US" sz="1500" dirty="0">
                <a:solidFill>
                  <a:schemeClr val="tx1"/>
                </a:solidFill>
              </a:rPr>
              <a:t>Guarantees a clean next start edge</a:t>
            </a:r>
            <a:endParaRPr lang="en-US" sz="1500" dirty="0"/>
          </a:p>
        </p:txBody>
      </p:sp>
      <p:sp>
        <p:nvSpPr>
          <p:cNvPr id="16" name="Shape 13"/>
          <p:cNvSpPr/>
          <p:nvPr/>
        </p:nvSpPr>
        <p:spPr>
          <a:xfrm>
            <a:off x="548640" y="4800600"/>
            <a:ext cx="11091672" cy="1143000"/>
          </a:xfrm>
          <a:prstGeom prst="rect">
            <a:avLst/>
          </a:prstGeom>
          <a:solidFill>
            <a:schemeClr val="accent5"/>
          </a:solidFill>
          <a:ln w="12700">
            <a:solidFill>
              <a:schemeClr val="accent5"/>
            </a:solidFill>
            <a:prstDash val="solid"/>
          </a:ln>
        </p:spPr>
        <p:txBody>
          <a:bodyPr/>
          <a:lstStyle/>
          <a:p>
            <a:endParaRPr lang="en-IN"/>
          </a:p>
        </p:txBody>
      </p:sp>
      <p:sp>
        <p:nvSpPr>
          <p:cNvPr id="17" name="Text 14"/>
          <p:cNvSpPr txBox="1"/>
          <p:nvPr/>
        </p:nvSpPr>
        <p:spPr>
          <a:xfrm>
            <a:off x="777240" y="4937760"/>
            <a:ext cx="10698480" cy="868680"/>
          </a:xfrm>
          <a:prstGeom prst="rect">
            <a:avLst/>
          </a:prstGeom>
          <a:noFill/>
          <a:ln/>
        </p:spPr>
        <p:txBody>
          <a:bodyPr wrap="square" lIns="0" tIns="0" rIns="0" bIns="0" rtlCol="0" anchor="ctr"/>
          <a:lstStyle/>
          <a:p>
            <a:pPr marL="0" indent="0">
              <a:spcAft>
                <a:spcPts val="400"/>
              </a:spcAft>
              <a:buNone/>
            </a:pPr>
            <a:r>
              <a:rPr lang="en-US" sz="1500" b="1" dirty="0">
                <a:solidFill>
                  <a:schemeClr val="tx1"/>
                </a:solidFill>
              </a:rPr>
              <a:t>Shorthand:   </a:t>
            </a:r>
            <a:r>
              <a:rPr lang="en-US" sz="1500" b="1" dirty="0">
                <a:solidFill>
                  <a:schemeClr val="tx1"/>
                </a:solidFill>
                <a:latin typeface="Courier New" pitchFamily="34" charset="0"/>
                <a:ea typeface="Courier New" pitchFamily="34" charset="-122"/>
                <a:cs typeface="Courier New" pitchFamily="34" charset="-120"/>
              </a:rPr>
              <a:t>8N1</a:t>
            </a:r>
            <a:r>
              <a:rPr lang="en-US" sz="1500" dirty="0">
                <a:solidFill>
                  <a:schemeClr val="tx2"/>
                </a:solidFill>
              </a:rPr>
              <a:t> = 8 data, no parity, 1 stop (10 bits)     </a:t>
            </a:r>
            <a:r>
              <a:rPr lang="en-US" sz="1500" b="1" dirty="0">
                <a:solidFill>
                  <a:schemeClr val="tx1"/>
                </a:solidFill>
                <a:latin typeface="Courier New" pitchFamily="34" charset="0"/>
                <a:ea typeface="Courier New" pitchFamily="34" charset="-122"/>
                <a:cs typeface="Courier New" pitchFamily="34" charset="-120"/>
              </a:rPr>
              <a:t>8E1</a:t>
            </a:r>
            <a:r>
              <a:rPr lang="en-US" sz="1500" dirty="0">
                <a:solidFill>
                  <a:schemeClr val="tx2"/>
                </a:solidFill>
              </a:rPr>
              <a:t> = 8 data, even parity, 1 stop (11 bits)     </a:t>
            </a:r>
            <a:r>
              <a:rPr lang="en-US" sz="1500" b="1" dirty="0">
                <a:solidFill>
                  <a:schemeClr val="tx1"/>
                </a:solidFill>
                <a:latin typeface="Courier New" pitchFamily="34" charset="0"/>
                <a:ea typeface="Courier New" pitchFamily="34" charset="-122"/>
                <a:cs typeface="Courier New" pitchFamily="34" charset="-120"/>
              </a:rPr>
              <a:t>7O2</a:t>
            </a:r>
            <a:r>
              <a:rPr lang="en-US" sz="1500" dirty="0">
                <a:solidFill>
                  <a:schemeClr val="tx2"/>
                </a:solidFill>
              </a:rPr>
              <a:t> = 7 data, odd parity, 2 stop</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Baud rate and its generation</a:t>
            </a:r>
            <a:endParaRPr lang="en-US" sz="3200" dirty="0"/>
          </a:p>
        </p:txBody>
      </p:sp>
      <p:sp>
        <p:nvSpPr>
          <p:cNvPr id="4" name="Text 1"/>
          <p:cNvSpPr txBox="1"/>
          <p:nvPr/>
        </p:nvSpPr>
        <p:spPr>
          <a:xfrm>
            <a:off x="548640" y="1325880"/>
            <a:ext cx="4846320" cy="1753382"/>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Baud rate</a:t>
            </a:r>
            <a:r>
              <a:rPr lang="en-US" sz="1600" dirty="0">
                <a:solidFill>
                  <a:schemeClr val="tx1"/>
                </a:solidFill>
              </a:rPr>
              <a:t> is symbols per second; in a UART each symbol is one bit, so baud = bits per second.</a:t>
            </a:r>
            <a:endParaRPr lang="en-US" sz="1600" dirty="0"/>
          </a:p>
          <a:p>
            <a:pPr marL="0" indent="0">
              <a:spcAft>
                <a:spcPts val="400"/>
              </a:spcAft>
              <a:buNone/>
            </a:pPr>
            <a:r>
              <a:rPr lang="en-US" sz="600" dirty="0">
                <a:solidFill>
                  <a:schemeClr val="tx1"/>
                </a:solidFill>
              </a:rPr>
              <a:t> </a:t>
            </a:r>
            <a:endParaRPr lang="en-US" sz="1600" dirty="0"/>
          </a:p>
          <a:p>
            <a:pPr marL="0" indent="0">
              <a:spcAft>
                <a:spcPts val="400"/>
              </a:spcAft>
              <a:buNone/>
            </a:pPr>
            <a:r>
              <a:rPr lang="en-US" sz="1600" dirty="0">
                <a:solidFill>
                  <a:schemeClr val="tx1"/>
                </a:solidFill>
              </a:rPr>
              <a:t>A counter divides the system clock to produce a one-cycle </a:t>
            </a:r>
            <a:r>
              <a:rPr lang="en-US" sz="1600" b="1" dirty="0">
                <a:solidFill>
                  <a:schemeClr val="tx1"/>
                </a:solidFill>
              </a:rPr>
              <a:t>tick at 16× the baud rate</a:t>
            </a:r>
            <a:r>
              <a:rPr lang="en-US" sz="1600" dirty="0">
                <a:solidFill>
                  <a:schemeClr val="tx1"/>
                </a:solidFill>
              </a:rPr>
              <a:t>, which the receiver uses for oversampling.</a:t>
            </a:r>
            <a:endParaRPr lang="en-US" sz="1600" dirty="0"/>
          </a:p>
        </p:txBody>
      </p:sp>
      <p:sp>
        <p:nvSpPr>
          <p:cNvPr id="5" name="Shape 2"/>
          <p:cNvSpPr/>
          <p:nvPr/>
        </p:nvSpPr>
        <p:spPr>
          <a:xfrm>
            <a:off x="548640" y="3429000"/>
            <a:ext cx="4846320" cy="1234440"/>
          </a:xfrm>
          <a:prstGeom prst="rect">
            <a:avLst/>
          </a:prstGeom>
          <a:solidFill>
            <a:schemeClr val="tx1"/>
          </a:solidFill>
          <a:ln w="12700">
            <a:solidFill>
              <a:schemeClr val="tx1"/>
            </a:solidFill>
            <a:prstDash val="solid"/>
          </a:ln>
        </p:spPr>
        <p:txBody>
          <a:bodyPr/>
          <a:lstStyle/>
          <a:p>
            <a:endParaRPr lang="en-IN"/>
          </a:p>
        </p:txBody>
      </p:sp>
      <p:sp>
        <p:nvSpPr>
          <p:cNvPr id="6" name="Text 3"/>
          <p:cNvSpPr txBox="1"/>
          <p:nvPr/>
        </p:nvSpPr>
        <p:spPr>
          <a:xfrm>
            <a:off x="777240" y="3566160"/>
            <a:ext cx="4480560" cy="960120"/>
          </a:xfrm>
          <a:prstGeom prst="rect">
            <a:avLst/>
          </a:prstGeom>
          <a:noFill/>
          <a:ln/>
        </p:spPr>
        <p:txBody>
          <a:bodyPr wrap="square" lIns="0" tIns="0" rIns="0" bIns="0" rtlCol="0" anchor="ctr"/>
          <a:lstStyle/>
          <a:p>
            <a:pPr marL="0" indent="0">
              <a:spcAft>
                <a:spcPts val="400"/>
              </a:spcAft>
              <a:buNone/>
            </a:pPr>
            <a:r>
              <a:rPr lang="en-US" sz="1500" dirty="0">
                <a:solidFill>
                  <a:schemeClr val="bg2"/>
                </a:solidFill>
                <a:latin typeface="Courier New" pitchFamily="34" charset="0"/>
                <a:ea typeface="Courier New" pitchFamily="34" charset="-122"/>
                <a:cs typeface="Courier New" pitchFamily="34" charset="-120"/>
              </a:rPr>
              <a:t>divisor = f_clk ÷ (16 × baud)</a:t>
            </a:r>
            <a:endParaRPr lang="en-US" sz="1500" dirty="0"/>
          </a:p>
          <a:p>
            <a:pPr marL="0" indent="0">
              <a:spcAft>
                <a:spcPts val="400"/>
              </a:spcAft>
              <a:buNone/>
            </a:pPr>
            <a:r>
              <a:rPr lang="en-US" sz="1500" dirty="0">
                <a:solidFill>
                  <a:schemeClr val="accent6"/>
                </a:solidFill>
                <a:latin typeface="Courier New" pitchFamily="34" charset="0"/>
                <a:ea typeface="Courier New" pitchFamily="34" charset="-122"/>
                <a:cs typeface="Courier New" pitchFamily="34" charset="-120"/>
              </a:rPr>
              <a:t>error = (actual − target) ÷ target</a:t>
            </a:r>
            <a:endParaRPr lang="en-US" sz="1500" dirty="0"/>
          </a:p>
        </p:txBody>
      </p:sp>
      <p:sp>
        <p:nvSpPr>
          <p:cNvPr id="7" name="Text 4"/>
          <p:cNvSpPr txBox="1"/>
          <p:nvPr/>
        </p:nvSpPr>
        <p:spPr>
          <a:xfrm>
            <a:off x="548640" y="4892040"/>
            <a:ext cx="4846320" cy="822960"/>
          </a:xfrm>
          <a:prstGeom prst="rect">
            <a:avLst/>
          </a:prstGeom>
          <a:noFill/>
          <a:ln/>
        </p:spPr>
        <p:txBody>
          <a:bodyPr wrap="square" lIns="0" tIns="0" rIns="0" bIns="0" rtlCol="0" anchor="t"/>
          <a:lstStyle/>
          <a:p>
            <a:pPr marL="0" indent="0">
              <a:spcAft>
                <a:spcPts val="400"/>
              </a:spcAft>
              <a:buNone/>
            </a:pPr>
            <a:r>
              <a:rPr lang="en-US" sz="1400" dirty="0">
                <a:solidFill>
                  <a:schemeClr val="tx2"/>
                </a:solidFill>
              </a:rPr>
              <a:t>The receiver tolerates about ±4.5% total mismatch, so each side should stay within about ±2%.</a:t>
            </a:r>
            <a:endParaRPr lang="en-US" sz="1400" dirty="0"/>
          </a:p>
        </p:txBody>
      </p:sp>
      <p:sp>
        <p:nvSpPr>
          <p:cNvPr id="8" name="Text 5"/>
          <p:cNvSpPr txBox="1"/>
          <p:nvPr/>
        </p:nvSpPr>
        <p:spPr>
          <a:xfrm>
            <a:off x="5852160" y="1325880"/>
            <a:ext cx="5760720" cy="36576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Divisors for a 50 MHz clock</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86742633"/>
              </p:ext>
            </p:extLst>
          </p:nvPr>
        </p:nvGraphicFramePr>
        <p:xfrm>
          <a:off x="5852160" y="1783079"/>
          <a:ext cx="5788152" cy="3390702"/>
        </p:xfrm>
        <a:graphic>
          <a:graphicData uri="http://schemas.openxmlformats.org/drawingml/2006/table">
            <a:tbl>
              <a:tblPr/>
              <a:tblGrid>
                <a:gridCol w="10972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216152">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tblGrid>
              <a:tr h="484386">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Target baud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Exact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Divisor</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Actual baud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Error</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±2% OK?</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0"/>
                  </a:ext>
                </a:extLst>
              </a:tr>
              <a:tr h="484386">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9,600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325.52</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326</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9,586</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-0.15%</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1"/>
                  </a:ext>
                </a:extLst>
              </a:tr>
              <a:tr h="484386">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19,200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162.76</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163</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19,172</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-0.15%</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2"/>
                  </a:ext>
                </a:extLst>
              </a:tr>
              <a:tr h="484386">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57,600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54.25</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54</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57,870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+0.47%</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3"/>
                  </a:ext>
                </a:extLst>
              </a:tr>
              <a:tr h="484386">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115,200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solidFill>
                      <a:srgbClr val="CBD6C9"/>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27.13</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solidFill>
                      <a:srgbClr val="CBD6C9"/>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27</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solidFill>
                      <a:srgbClr val="CBD6C9"/>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115,741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solidFill>
                      <a:srgbClr val="CBD6C9"/>
                    </a:solidFill>
                  </a:tcPr>
                </a:tc>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+0.47%</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solidFill>
                      <a:srgbClr val="CBD6C9"/>
                    </a:solidFill>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solidFill>
                      <a:srgbClr val="CBD6C9"/>
                    </a:solidFill>
                  </a:tcPr>
                </a:tc>
                <a:extLst>
                  <a:ext uri="{0D108BD9-81ED-4DB2-BD59-A6C34878D82A}">
                    <a16:rowId xmlns:a16="http://schemas.microsoft.com/office/drawing/2014/main" val="10004"/>
                  </a:ext>
                </a:extLst>
              </a:tr>
              <a:tr h="484386">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230,400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13.56</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14</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223,214</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accent2"/>
                          </a:solidFill>
                          <a:latin typeface="Courier New" pitchFamily="34" charset="0"/>
                          <a:ea typeface="Courier New" pitchFamily="34" charset="-122"/>
                          <a:cs typeface="Courier New" pitchFamily="34" charset="-120"/>
                        </a:rPr>
                        <a:t>-3.12%</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2"/>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5"/>
                  </a:ext>
                </a:extLst>
              </a:tr>
              <a:tr h="484386">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921,600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3.39</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1,041,667</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accent2"/>
                          </a:solidFill>
                          <a:latin typeface="Courier New" pitchFamily="34" charset="0"/>
                          <a:ea typeface="Courier New" pitchFamily="34" charset="-122"/>
                          <a:cs typeface="Courier New" pitchFamily="34" charset="-120"/>
                        </a:rPr>
                        <a:t>+13.03%</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b="1" dirty="0">
                          <a:solidFill>
                            <a:schemeClr val="accent2"/>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6"/>
          <p:cNvSpPr txBox="1"/>
          <p:nvPr/>
        </p:nvSpPr>
        <p:spPr>
          <a:xfrm>
            <a:off x="5852160" y="5349240"/>
            <a:ext cx="5788152" cy="548640"/>
          </a:xfrm>
          <a:prstGeom prst="rect">
            <a:avLst/>
          </a:prstGeom>
          <a:noFill/>
          <a:ln/>
        </p:spPr>
        <p:txBody>
          <a:bodyPr wrap="square" lIns="0" tIns="0" rIns="0" bIns="0" rtlCol="0" anchor="t"/>
          <a:lstStyle/>
          <a:p>
            <a:pPr marL="0" indent="0">
              <a:spcAft>
                <a:spcPts val="400"/>
              </a:spcAft>
              <a:buNone/>
            </a:pPr>
            <a:r>
              <a:rPr lang="en-US" sz="1400" dirty="0">
                <a:solidFill>
                  <a:schemeClr val="tx2"/>
                </a:solidFill>
              </a:rPr>
              <a:t>This design: divisor 27 → 115,741 baud, +0.47%. Bit time 8.64 µs; one 8N1 frame ≈ 86.8 µs.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Top-level architecture</a:t>
            </a:r>
            <a:endParaRPr lang="en-US" sz="3200" dirty="0"/>
          </a:p>
        </p:txBody>
      </p:sp>
      <p:sp>
        <p:nvSpPr>
          <p:cNvPr id="5" name="Shape 1"/>
          <p:cNvSpPr/>
          <p:nvPr/>
        </p:nvSpPr>
        <p:spPr>
          <a:xfrm>
            <a:off x="8549640" y="1280160"/>
            <a:ext cx="3090672" cy="2971800"/>
          </a:xfrm>
          <a:prstGeom prst="rect">
            <a:avLst/>
          </a:prstGeom>
          <a:solidFill>
            <a:schemeClr val="accent3"/>
          </a:solidFill>
          <a:ln w="12700">
            <a:solidFill>
              <a:schemeClr val="accent3"/>
            </a:solidFill>
            <a:prstDash val="solid"/>
          </a:ln>
        </p:spPr>
        <p:txBody>
          <a:bodyPr/>
          <a:lstStyle/>
          <a:p>
            <a:endParaRPr lang="en-IN"/>
          </a:p>
        </p:txBody>
      </p:sp>
      <p:sp>
        <p:nvSpPr>
          <p:cNvPr id="6" name="Text 2"/>
          <p:cNvSpPr txBox="1"/>
          <p:nvPr/>
        </p:nvSpPr>
        <p:spPr>
          <a:xfrm>
            <a:off x="8732520" y="1417320"/>
            <a:ext cx="2743200" cy="27432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Full duplex by structure</a:t>
            </a:r>
            <a:endParaRPr lang="en-US" sz="1400" dirty="0"/>
          </a:p>
          <a:p>
            <a:pPr marL="0" indent="0">
              <a:spcAft>
                <a:spcPts val="400"/>
              </a:spcAft>
              <a:buNone/>
            </a:pPr>
            <a:r>
              <a:rPr lang="en-US" sz="1400" dirty="0">
                <a:solidFill>
                  <a:schemeClr val="tx1"/>
                </a:solidFill>
              </a:rPr>
              <a:t>TX and RX share only the baud tick and the registers, so both run at the same time.</a:t>
            </a:r>
            <a:endParaRPr lang="en-US" sz="1400" dirty="0"/>
          </a:p>
          <a:p>
            <a:pPr marL="0" indent="0">
              <a:spcAft>
                <a:spcPts val="400"/>
              </a:spcAft>
              <a:buNone/>
            </a:pPr>
            <a:r>
              <a:rPr lang="en-US" sz="600" dirty="0">
                <a:solidFill>
                  <a:schemeClr val="tx1"/>
                </a:solidFill>
              </a:rPr>
              <a:t> </a:t>
            </a:r>
            <a:endParaRPr lang="en-US" sz="1400" dirty="0"/>
          </a:p>
          <a:p>
            <a:pPr marL="0" indent="0">
              <a:spcAft>
                <a:spcPts val="400"/>
              </a:spcAft>
              <a:buNone/>
            </a:pPr>
            <a:r>
              <a:rPr lang="en-US" sz="1400" b="1" dirty="0">
                <a:solidFill>
                  <a:schemeClr val="tx1"/>
                </a:solidFill>
              </a:rPr>
              <a:t>One clock domain</a:t>
            </a:r>
            <a:endParaRPr lang="en-US" sz="1400" dirty="0"/>
          </a:p>
          <a:p>
            <a:pPr marL="0" indent="0">
              <a:spcAft>
                <a:spcPts val="400"/>
              </a:spcAft>
              <a:buNone/>
            </a:pPr>
            <a:r>
              <a:rPr lang="en-US" sz="1400" dirty="0">
                <a:solidFill>
                  <a:schemeClr val="tx1"/>
                </a:solidFill>
              </a:rPr>
              <a:t>RXD is the only asynchronous input.</a:t>
            </a:r>
            <a:endParaRPr lang="en-US" sz="1400" dirty="0"/>
          </a:p>
        </p:txBody>
      </p:sp>
      <p:sp>
        <p:nvSpPr>
          <p:cNvPr id="7" name="Text 3"/>
          <p:cNvSpPr txBox="1"/>
          <p:nvPr/>
        </p:nvSpPr>
        <p:spPr>
          <a:xfrm>
            <a:off x="579120" y="4434840"/>
            <a:ext cx="5410200" cy="384048"/>
          </a:xfrm>
          <a:prstGeom prst="rect">
            <a:avLst/>
          </a:prstGeom>
          <a:noFill/>
          <a:ln/>
        </p:spPr>
        <p:txBody>
          <a:bodyPr wrap="square" lIns="0" tIns="0" rIns="0" bIns="0" rtlCol="0" anchor="ctr"/>
          <a:lstStyle/>
          <a:p>
            <a:pPr>
              <a:spcAft>
                <a:spcPts val="400"/>
              </a:spcAft>
            </a:pPr>
            <a:r>
              <a:rPr lang="en-IN" b="1" dirty="0" err="1"/>
              <a:t>uart_top</a:t>
            </a:r>
            <a:r>
              <a:rPr lang="en-IN" sz="1400" dirty="0"/>
              <a:t>: wraps the three modules, and the testbench ties</a:t>
            </a:r>
            <a:endParaRPr lang="en-US" sz="1400" dirty="0"/>
          </a:p>
        </p:txBody>
      </p:sp>
      <p:sp>
        <p:nvSpPr>
          <p:cNvPr id="8" name="Text 4"/>
          <p:cNvSpPr txBox="1"/>
          <p:nvPr/>
        </p:nvSpPr>
        <p:spPr>
          <a:xfrm>
            <a:off x="548640" y="4864608"/>
            <a:ext cx="5440680" cy="542770"/>
          </a:xfrm>
          <a:prstGeom prst="rect">
            <a:avLst/>
          </a:prstGeom>
          <a:noFill/>
          <a:ln/>
        </p:spPr>
        <p:txBody>
          <a:bodyPr wrap="square" lIns="0" tIns="0" rIns="0" bIns="0" rtlCol="0" anchor="ctr"/>
          <a:lstStyle/>
          <a:p>
            <a:pPr>
              <a:spcAft>
                <a:spcPts val="400"/>
              </a:spcAft>
            </a:pPr>
            <a:r>
              <a:rPr lang="en-IN" b="1" dirty="0" err="1"/>
              <a:t>uart_tx</a:t>
            </a:r>
            <a:r>
              <a:rPr lang="en-IN" sz="1400" dirty="0"/>
              <a:t>: sends start, 8 data bits LSB first, optional parity, then stop. </a:t>
            </a:r>
            <a:r>
              <a:rPr lang="en-IN" dirty="0" err="1"/>
              <a:t>tx_busy</a:t>
            </a:r>
            <a:r>
              <a:rPr lang="en-IN" sz="1400" dirty="0"/>
              <a:t> stays high until the frame ends.</a:t>
            </a:r>
            <a:endParaRPr lang="en-US" sz="1400" dirty="0"/>
          </a:p>
        </p:txBody>
      </p:sp>
      <p:sp>
        <p:nvSpPr>
          <p:cNvPr id="9" name="Text 5"/>
          <p:cNvSpPr txBox="1"/>
          <p:nvPr/>
        </p:nvSpPr>
        <p:spPr>
          <a:xfrm>
            <a:off x="548640" y="5560004"/>
            <a:ext cx="5440680" cy="384048"/>
          </a:xfrm>
          <a:prstGeom prst="rect">
            <a:avLst/>
          </a:prstGeom>
          <a:noFill/>
          <a:ln/>
        </p:spPr>
        <p:txBody>
          <a:bodyPr wrap="square" lIns="0" tIns="0" rIns="0" bIns="0" rtlCol="0" anchor="ctr"/>
          <a:lstStyle/>
          <a:p>
            <a:pPr>
              <a:spcAft>
                <a:spcPts val="400"/>
              </a:spcAft>
            </a:pPr>
            <a:r>
              <a:rPr lang="en-IN" b="1" dirty="0" err="1"/>
              <a:t>baudrate</a:t>
            </a:r>
            <a:r>
              <a:rPr lang="en-IN" sz="1400" dirty="0"/>
              <a:t>: two free-running counters. </a:t>
            </a:r>
            <a:r>
              <a:rPr lang="en-IN" dirty="0" err="1"/>
              <a:t>tx_tick</a:t>
            </a:r>
            <a:r>
              <a:rPr lang="en-IN" sz="1400" dirty="0"/>
              <a:t> fires every 434 clocks and </a:t>
            </a:r>
            <a:r>
              <a:rPr lang="en-IN" dirty="0" err="1"/>
              <a:t>rx_tick</a:t>
            </a:r>
            <a:r>
              <a:rPr lang="en-IN" sz="1400" dirty="0"/>
              <a:t> every 27 clocks (50 MHz, 115200 baud, 16×).</a:t>
            </a:r>
            <a:endParaRPr lang="en-US" sz="1400" dirty="0"/>
          </a:p>
        </p:txBody>
      </p:sp>
      <p:sp>
        <p:nvSpPr>
          <p:cNvPr id="10" name="Text 6"/>
          <p:cNvSpPr txBox="1"/>
          <p:nvPr/>
        </p:nvSpPr>
        <p:spPr>
          <a:xfrm>
            <a:off x="548640" y="5724144"/>
            <a:ext cx="5440680" cy="384048"/>
          </a:xfrm>
          <a:prstGeom prst="rect">
            <a:avLst/>
          </a:prstGeom>
          <a:noFill/>
          <a:ln/>
        </p:spPr>
        <p:txBody>
          <a:bodyPr wrap="square" lIns="0" tIns="0" rIns="0" bIns="0" rtlCol="0" anchor="ctr"/>
          <a:lstStyle/>
          <a:p>
            <a:pPr marL="0" indent="0">
              <a:spcAft>
                <a:spcPts val="400"/>
              </a:spcAft>
              <a:buNone/>
            </a:pPr>
            <a:endParaRPr lang="en-US" sz="1400" dirty="0"/>
          </a:p>
        </p:txBody>
      </p:sp>
      <p:sp>
        <p:nvSpPr>
          <p:cNvPr id="11" name="Text 7"/>
          <p:cNvSpPr txBox="1"/>
          <p:nvPr/>
        </p:nvSpPr>
        <p:spPr>
          <a:xfrm>
            <a:off x="6172200" y="4434840"/>
            <a:ext cx="5440680" cy="384048"/>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latin typeface="Courier New" pitchFamily="34" charset="0"/>
                <a:ea typeface="Courier New" pitchFamily="34" charset="-122"/>
                <a:cs typeface="Courier New" pitchFamily="34" charset="-120"/>
              </a:rPr>
              <a:t>sync_2ff  </a:t>
            </a:r>
            <a:r>
              <a:rPr lang="en-US" sz="1400" dirty="0">
                <a:solidFill>
                  <a:schemeClr val="tx1"/>
                </a:solidFill>
              </a:rPr>
              <a:t>two flip-flops tame the async RXD</a:t>
            </a:r>
            <a:endParaRPr lang="en-US" sz="1400" dirty="0"/>
          </a:p>
        </p:txBody>
      </p:sp>
      <p:sp>
        <p:nvSpPr>
          <p:cNvPr id="12" name="Text 8"/>
          <p:cNvSpPr txBox="1"/>
          <p:nvPr/>
        </p:nvSpPr>
        <p:spPr>
          <a:xfrm>
            <a:off x="6172200" y="4864608"/>
            <a:ext cx="5440680" cy="384048"/>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latin typeface="Courier New" pitchFamily="34" charset="0"/>
                <a:ea typeface="Courier New" pitchFamily="34" charset="-122"/>
                <a:cs typeface="Courier New" pitchFamily="34" charset="-120"/>
              </a:rPr>
              <a:t>uart_rx  </a:t>
            </a:r>
            <a:r>
              <a:rPr lang="en-US" sz="1400" dirty="0">
                <a:solidFill>
                  <a:schemeClr val="tx1"/>
                </a:solidFill>
              </a:rPr>
              <a:t>oversamples, rebuilds bytes, flags errors</a:t>
            </a:r>
            <a:endParaRPr lang="en-US" sz="1400" dirty="0"/>
          </a:p>
        </p:txBody>
      </p:sp>
      <p:sp>
        <p:nvSpPr>
          <p:cNvPr id="13" name="Text 9"/>
          <p:cNvSpPr txBox="1"/>
          <p:nvPr/>
        </p:nvSpPr>
        <p:spPr>
          <a:xfrm>
            <a:off x="6172200" y="5294376"/>
            <a:ext cx="5440680" cy="384048"/>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latin typeface="Courier New" pitchFamily="34" charset="0"/>
                <a:ea typeface="Courier New" pitchFamily="34" charset="-122"/>
                <a:cs typeface="Courier New" pitchFamily="34" charset="-120"/>
              </a:rPr>
              <a:t>RX FIFO  </a:t>
            </a:r>
            <a:r>
              <a:rPr lang="en-US" sz="1400" dirty="0">
                <a:solidFill>
                  <a:schemeClr val="tx1"/>
                </a:solidFill>
              </a:rPr>
              <a:t>holds received bytes until read</a:t>
            </a:r>
            <a:endParaRPr lang="en-US" sz="1400" dirty="0"/>
          </a:p>
        </p:txBody>
      </p:sp>
      <p:sp>
        <p:nvSpPr>
          <p:cNvPr id="14" name="Text 10"/>
          <p:cNvSpPr txBox="1"/>
          <p:nvPr/>
        </p:nvSpPr>
        <p:spPr>
          <a:xfrm>
            <a:off x="6172200" y="5724144"/>
            <a:ext cx="5440680" cy="384048"/>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latin typeface="Courier New" pitchFamily="34" charset="0"/>
                <a:ea typeface="Courier New" pitchFamily="34" charset="-122"/>
                <a:cs typeface="Courier New" pitchFamily="34" charset="-120"/>
              </a:rPr>
              <a:t>Loopback  </a:t>
            </a:r>
            <a:r>
              <a:rPr lang="en-US" sz="1400" dirty="0">
                <a:solidFill>
                  <a:schemeClr val="tx1"/>
                </a:solidFill>
              </a:rPr>
              <a:t>dashed path feeds TXD back for self-test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pic>
        <p:nvPicPr>
          <p:cNvPr id="19" name="Picture 18">
            <a:extLst>
              <a:ext uri="{FF2B5EF4-FFF2-40B4-BE49-F238E27FC236}">
                <a16:creationId xmlns:a16="http://schemas.microsoft.com/office/drawing/2014/main" id="{1DF00949-ED3F-C9A2-FFF7-0CB84053D2CB}"/>
              </a:ext>
            </a:extLst>
          </p:cNvPr>
          <p:cNvPicPr>
            <a:picLocks noChangeAspect="1"/>
          </p:cNvPicPr>
          <p:nvPr/>
        </p:nvPicPr>
        <p:blipFill>
          <a:blip r:embed="rId3"/>
          <a:stretch>
            <a:fillRect/>
          </a:stretch>
        </p:blipFill>
        <p:spPr>
          <a:xfrm>
            <a:off x="76200" y="4344477"/>
            <a:ext cx="12192000" cy="2387600"/>
          </a:xfrm>
          <a:prstGeom prst="rect">
            <a:avLst/>
          </a:prstGeom>
        </p:spPr>
      </p:pic>
      <p:pic>
        <p:nvPicPr>
          <p:cNvPr id="21" name="Picture 20">
            <a:extLst>
              <a:ext uri="{FF2B5EF4-FFF2-40B4-BE49-F238E27FC236}">
                <a16:creationId xmlns:a16="http://schemas.microsoft.com/office/drawing/2014/main" id="{85D96FC8-A193-803F-08D4-EF5AD9373BC2}"/>
              </a:ext>
            </a:extLst>
          </p:cNvPr>
          <p:cNvPicPr>
            <a:picLocks noChangeAspect="1"/>
          </p:cNvPicPr>
          <p:nvPr/>
        </p:nvPicPr>
        <p:blipFill>
          <a:blip r:embed="rId4"/>
          <a:stretch>
            <a:fillRect/>
          </a:stretch>
        </p:blipFill>
        <p:spPr>
          <a:xfrm>
            <a:off x="320430" y="1125337"/>
            <a:ext cx="7018217" cy="31453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Module 1: baud generator (baud_gen.v)</a:t>
            </a:r>
            <a:endParaRPr lang="en-US" sz="3200" dirty="0"/>
          </a:p>
        </p:txBody>
      </p:sp>
      <p:sp>
        <p:nvSpPr>
          <p:cNvPr id="5" name="Text 1"/>
          <p:cNvSpPr txBox="1"/>
          <p:nvPr/>
        </p:nvSpPr>
        <p:spPr>
          <a:xfrm>
            <a:off x="508153" y="3429000"/>
            <a:ext cx="4754880" cy="2743200"/>
          </a:xfrm>
          <a:prstGeom prst="rect">
            <a:avLst/>
          </a:prstGeom>
          <a:noFill/>
          <a:ln/>
        </p:spPr>
        <p:txBody>
          <a:bodyPr wrap="square" lIns="0" tIns="0" rIns="0" bIns="0" rtlCol="0" anchor="t"/>
          <a:lstStyle/>
          <a:p>
            <a:pPr marL="285750" indent="-285750">
              <a:spcAft>
                <a:spcPts val="600"/>
              </a:spcAft>
              <a:buSzPct val="100000"/>
              <a:buFont typeface="Arial" panose="020B0604020202020204" pitchFamily="34" charset="0"/>
              <a:buChar char="•"/>
            </a:pPr>
            <a:r>
              <a:rPr lang="en-US" sz="1500" dirty="0"/>
              <a:t>Two independent counters generate timing </a:t>
            </a:r>
            <a:r>
              <a:rPr lang="en-US" sz="1500" dirty="0" err="1"/>
              <a:t>ticks.end</a:t>
            </a:r>
            <a:r>
              <a:rPr lang="en-US" sz="1500" dirty="0"/>
              <a:t>·</a:t>
            </a:r>
          </a:p>
          <a:p>
            <a:pPr marL="285750" indent="-285750">
              <a:spcAft>
                <a:spcPts val="600"/>
              </a:spcAft>
              <a:buSzPct val="100000"/>
              <a:buFont typeface="Arial" panose="020B0604020202020204" pitchFamily="34" charset="0"/>
              <a:buChar char="•"/>
            </a:pPr>
            <a:r>
              <a:rPr lang="en-US" sz="1500" dirty="0"/>
              <a:t> TX_DIV = 434 for 50 MHz / 115200.</a:t>
            </a:r>
          </a:p>
          <a:p>
            <a:pPr marL="285750" indent="-285750">
              <a:spcAft>
                <a:spcPts val="600"/>
              </a:spcAft>
              <a:buSzPct val="100000"/>
              <a:buFont typeface="Arial" panose="020B0604020202020204" pitchFamily="34" charset="0"/>
              <a:buChar char="•"/>
            </a:pPr>
            <a:r>
              <a:rPr lang="en-US" sz="1500" dirty="0"/>
              <a:t> RX_DIV = 27 using integer division for 50 MHz / (115200 × 16).</a:t>
            </a:r>
          </a:p>
          <a:p>
            <a:pPr marL="285750" indent="-285750">
              <a:spcAft>
                <a:spcPts val="600"/>
              </a:spcAft>
              <a:buSzPct val="100000"/>
              <a:buFont typeface="Arial" panose="020B0604020202020204" pitchFamily="34" charset="0"/>
              <a:buChar char="•"/>
            </a:pPr>
            <a:r>
              <a:rPr lang="en-US" sz="1500" dirty="0"/>
              <a:t> </a:t>
            </a:r>
            <a:r>
              <a:rPr lang="en-US" sz="1500" dirty="0" err="1"/>
              <a:t>tx_tick</a:t>
            </a:r>
            <a:r>
              <a:rPr lang="en-US" sz="1500" dirty="0"/>
              <a:t> is a one-clock-cycle enable at the TX bit rate.</a:t>
            </a:r>
          </a:p>
          <a:p>
            <a:pPr marL="285750" indent="-285750">
              <a:spcAft>
                <a:spcPts val="600"/>
              </a:spcAft>
              <a:buSzPct val="100000"/>
              <a:buFont typeface="Arial" panose="020B0604020202020204" pitchFamily="34" charset="0"/>
              <a:buChar char="•"/>
            </a:pPr>
            <a:r>
              <a:rPr lang="en-US" sz="1500" dirty="0"/>
              <a:t> </a:t>
            </a:r>
            <a:r>
              <a:rPr lang="en-US" sz="1500" dirty="0" err="1"/>
              <a:t>rx_tick</a:t>
            </a:r>
            <a:r>
              <a:rPr lang="en-US" sz="1500" dirty="0"/>
              <a:t> is a one-clock-cycle enable used for 16x </a:t>
            </a:r>
            <a:r>
              <a:rPr lang="en-US" sz="1500" dirty="0" err="1"/>
              <a:t>receiveroversampling</a:t>
            </a:r>
            <a:r>
              <a:rPr lang="en-US" sz="1500" dirty="0"/>
              <a:t>.</a:t>
            </a:r>
          </a:p>
          <a:p>
            <a:pPr marL="285750" indent="-285750">
              <a:spcAft>
                <a:spcPts val="600"/>
              </a:spcAft>
              <a:buSzPct val="100000"/>
              <a:buFont typeface="Arial" panose="020B0604020202020204" pitchFamily="34" charset="0"/>
              <a:buChar char="•"/>
            </a:pPr>
            <a:r>
              <a:rPr lang="en-US" sz="1500" dirty="0"/>
              <a:t>All logic remains synchronous to the 50 MHz system clock.</a:t>
            </a:r>
          </a:p>
        </p:txBody>
      </p:sp>
      <p:sp>
        <p:nvSpPr>
          <p:cNvPr id="6" name="code background"/>
          <p:cNvSpPr/>
          <p:nvPr/>
        </p:nvSpPr>
        <p:spPr>
          <a:xfrm>
            <a:off x="5669280" y="1234440"/>
            <a:ext cx="5971032" cy="3429000"/>
          </a:xfrm>
          <a:prstGeom prst="rect">
            <a:avLst/>
          </a:prstGeom>
          <a:solidFill>
            <a:schemeClr val="accent5"/>
          </a:solidFill>
          <a:ln w="12700">
            <a:solidFill>
              <a:schemeClr val="accent5"/>
            </a:solidFill>
            <a:prstDash val="solid"/>
          </a:ln>
        </p:spPr>
        <p:txBody>
          <a:bodyPr/>
          <a:lstStyle/>
          <a:p>
            <a:endParaRPr lang="en-IN"/>
          </a:p>
        </p:txBody>
      </p:sp>
      <p:sp>
        <p:nvSpPr>
          <p:cNvPr id="7" name="Verilog code"/>
          <p:cNvSpPr txBox="1"/>
          <p:nvPr/>
        </p:nvSpPr>
        <p:spPr>
          <a:xfrm>
            <a:off x="5577840" y="1051560"/>
            <a:ext cx="5971032" cy="3794760"/>
          </a:xfrm>
          <a:prstGeom prst="rect">
            <a:avLst/>
          </a:prstGeom>
          <a:noFill/>
          <a:ln/>
        </p:spPr>
        <p:txBody>
          <a:bodyPr wrap="square" lIns="0" tIns="0" rIns="0" bIns="0" rtlCol="0" anchor="t"/>
          <a:lstStyle/>
          <a:p>
            <a:pPr marL="0" indent="0">
              <a:lnSpc>
                <a:spcPct val="100000"/>
              </a:lnSpc>
              <a:buNone/>
            </a:pP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0" y="4846320"/>
          <a:ext cx="5971032" cy="1097280"/>
        </p:xfrm>
        <a:graphic>
          <a:graphicData uri="http://schemas.openxmlformats.org/drawingml/2006/table">
            <a:tbl>
              <a:tblPr/>
              <a:tblGrid>
                <a:gridCol w="17373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3502152">
                  <a:extLst>
                    <a:ext uri="{9D8B030D-6E8A-4147-A177-3AD203B41FA5}">
                      <a16:colId xmlns:a16="http://schemas.microsoft.com/office/drawing/2014/main" val="20002"/>
                    </a:ext>
                  </a:extLst>
                </a:gridCol>
              </a:tblGrid>
              <a:tr h="365760">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Port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Dir</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divisor[15:0]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in</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From BAUD register</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tick</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out</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One-cycle pulse at 16 × baud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pic>
        <p:nvPicPr>
          <p:cNvPr id="8" name="Picture 7">
            <a:extLst>
              <a:ext uri="{FF2B5EF4-FFF2-40B4-BE49-F238E27FC236}">
                <a16:creationId xmlns:a16="http://schemas.microsoft.com/office/drawing/2014/main" id="{35E461CC-BB6E-C493-9D52-52FC532CFADF}"/>
              </a:ext>
            </a:extLst>
          </p:cNvPr>
          <p:cNvPicPr>
            <a:picLocks noChangeAspect="1"/>
          </p:cNvPicPr>
          <p:nvPr/>
        </p:nvPicPr>
        <p:blipFill>
          <a:blip r:embed="rId3"/>
          <a:stretch>
            <a:fillRect/>
          </a:stretch>
        </p:blipFill>
        <p:spPr>
          <a:xfrm>
            <a:off x="5643372" y="914400"/>
            <a:ext cx="5905500" cy="3749040"/>
          </a:xfrm>
          <a:prstGeom prst="rect">
            <a:avLst/>
          </a:prstGeom>
        </p:spPr>
      </p:pic>
      <p:pic>
        <p:nvPicPr>
          <p:cNvPr id="10" name="Picture 9">
            <a:extLst>
              <a:ext uri="{FF2B5EF4-FFF2-40B4-BE49-F238E27FC236}">
                <a16:creationId xmlns:a16="http://schemas.microsoft.com/office/drawing/2014/main" id="{A88308AD-EDD3-33B4-4D6E-80662E3F9F5A}"/>
              </a:ext>
            </a:extLst>
          </p:cNvPr>
          <p:cNvPicPr>
            <a:picLocks noChangeAspect="1"/>
          </p:cNvPicPr>
          <p:nvPr/>
        </p:nvPicPr>
        <p:blipFill>
          <a:blip r:embed="rId4"/>
          <a:stretch>
            <a:fillRect/>
          </a:stretch>
        </p:blipFill>
        <p:spPr>
          <a:xfrm>
            <a:off x="5486400" y="4747117"/>
            <a:ext cx="6248400" cy="1653683"/>
          </a:xfrm>
          <a:prstGeom prst="rect">
            <a:avLst/>
          </a:prstGeom>
        </p:spPr>
      </p:pic>
      <p:pic>
        <p:nvPicPr>
          <p:cNvPr id="12" name="Picture 11">
            <a:extLst>
              <a:ext uri="{FF2B5EF4-FFF2-40B4-BE49-F238E27FC236}">
                <a16:creationId xmlns:a16="http://schemas.microsoft.com/office/drawing/2014/main" id="{8036C1E9-5B38-8C9F-3E78-B56E158B0A0B}"/>
              </a:ext>
            </a:extLst>
          </p:cNvPr>
          <p:cNvPicPr>
            <a:picLocks noChangeAspect="1"/>
          </p:cNvPicPr>
          <p:nvPr/>
        </p:nvPicPr>
        <p:blipFill>
          <a:blip r:embed="rId5"/>
          <a:stretch>
            <a:fillRect/>
          </a:stretch>
        </p:blipFill>
        <p:spPr>
          <a:xfrm>
            <a:off x="508153" y="1184791"/>
            <a:ext cx="4835853" cy="19738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Module 2: transmitter state machine</a:t>
            </a:r>
            <a:endParaRPr lang="en-US" sz="3200" dirty="0"/>
          </a:p>
        </p:txBody>
      </p:sp>
      <p:pic>
        <p:nvPicPr>
          <p:cNvPr id="4" name="Image 0" descr="fsm tx"/>
          <p:cNvPicPr>
            <a:picLocks noChangeAspect="1"/>
          </p:cNvPicPr>
          <p:nvPr/>
        </p:nvPicPr>
        <p:blipFill>
          <a:blip r:embed="rId3"/>
          <a:stretch>
            <a:fillRect/>
          </a:stretch>
        </p:blipFill>
        <p:spPr>
          <a:xfrm>
            <a:off x="548640" y="1234440"/>
            <a:ext cx="6761408" cy="960120"/>
          </a:xfrm>
          <a:prstGeom prst="rect">
            <a:avLst/>
          </a:prstGeom>
        </p:spPr>
      </p:pic>
      <p:pic>
        <p:nvPicPr>
          <p:cNvPr id="5" name="Image 1" descr="frame"/>
          <p:cNvPicPr>
            <a:picLocks noChangeAspect="1"/>
          </p:cNvPicPr>
          <p:nvPr/>
        </p:nvPicPr>
        <p:blipFill>
          <a:blip r:embed="rId4"/>
          <a:stretch>
            <a:fillRect/>
          </a:stretch>
        </p:blipFill>
        <p:spPr>
          <a:xfrm>
            <a:off x="548640" y="2331720"/>
            <a:ext cx="11091672" cy="1919712"/>
          </a:xfrm>
          <a:prstGeom prst="rect">
            <a:avLst/>
          </a:prstGeom>
        </p:spPr>
      </p:pic>
      <p:sp>
        <p:nvSpPr>
          <p:cNvPr id="6" name="Text 1"/>
          <p:cNvSpPr txBox="1"/>
          <p:nvPr/>
        </p:nvSpPr>
        <p:spPr>
          <a:xfrm>
            <a:off x="548640" y="4526280"/>
            <a:ext cx="210312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latin typeface="Courier New" pitchFamily="34" charset="0"/>
                <a:ea typeface="Courier New" pitchFamily="34" charset="-122"/>
                <a:cs typeface="Courier New" pitchFamily="34" charset="-120"/>
              </a:rPr>
              <a:t>IDLE</a:t>
            </a:r>
            <a:endParaRPr lang="en-US" sz="1600" dirty="0"/>
          </a:p>
          <a:p>
            <a:pPr marL="0" indent="0">
              <a:spcAft>
                <a:spcPts val="400"/>
              </a:spcAft>
              <a:buNone/>
            </a:pPr>
            <a:r>
              <a:rPr lang="en-US" sz="1400" dirty="0">
                <a:solidFill>
                  <a:schemeClr val="tx1"/>
                </a:solidFill>
              </a:rPr>
              <a:t>Line high; wait for TX FIFO not empty</a:t>
            </a:r>
            <a:endParaRPr lang="en-US" sz="1600" dirty="0"/>
          </a:p>
        </p:txBody>
      </p:sp>
      <p:sp>
        <p:nvSpPr>
          <p:cNvPr id="7" name="Text 2"/>
          <p:cNvSpPr txBox="1"/>
          <p:nvPr/>
        </p:nvSpPr>
        <p:spPr>
          <a:xfrm>
            <a:off x="2788920" y="4526280"/>
            <a:ext cx="210312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latin typeface="Courier New" pitchFamily="34" charset="0"/>
                <a:ea typeface="Courier New" pitchFamily="34" charset="-122"/>
                <a:cs typeface="Courier New" pitchFamily="34" charset="-120"/>
              </a:rPr>
              <a:t>START</a:t>
            </a:r>
            <a:endParaRPr lang="en-US" sz="1600" dirty="0"/>
          </a:p>
          <a:p>
            <a:pPr marL="0" indent="0">
              <a:spcAft>
                <a:spcPts val="400"/>
              </a:spcAft>
              <a:buNone/>
            </a:pPr>
            <a:r>
              <a:rPr lang="en-US" sz="1400" dirty="0">
                <a:solidFill>
                  <a:schemeClr val="tx1"/>
                </a:solidFill>
              </a:rPr>
              <a:t>Load shreg, compute parity, pop FIFO; drive 0</a:t>
            </a:r>
            <a:endParaRPr lang="en-US" sz="1600" dirty="0"/>
          </a:p>
        </p:txBody>
      </p:sp>
      <p:sp>
        <p:nvSpPr>
          <p:cNvPr id="8" name="Text 3"/>
          <p:cNvSpPr txBox="1"/>
          <p:nvPr/>
        </p:nvSpPr>
        <p:spPr>
          <a:xfrm>
            <a:off x="5029200" y="4526280"/>
            <a:ext cx="210312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latin typeface="Courier New" pitchFamily="34" charset="0"/>
                <a:ea typeface="Courier New" pitchFamily="34" charset="-122"/>
                <a:cs typeface="Courier New" pitchFamily="34" charset="-120"/>
              </a:rPr>
              <a:t>DATA</a:t>
            </a:r>
            <a:endParaRPr lang="en-US" sz="1600" dirty="0"/>
          </a:p>
          <a:p>
            <a:pPr marL="0" indent="0">
              <a:spcAft>
                <a:spcPts val="400"/>
              </a:spcAft>
              <a:buNone/>
            </a:pPr>
            <a:r>
              <a:rPr lang="en-US" sz="1400" dirty="0">
                <a:solidFill>
                  <a:schemeClr val="tx1"/>
                </a:solidFill>
              </a:rPr>
              <a:t>Drive shreg[0]; every 16 ticks shift right, b_cnt + 1</a:t>
            </a:r>
            <a:endParaRPr lang="en-US" sz="1600" dirty="0"/>
          </a:p>
        </p:txBody>
      </p:sp>
      <p:sp>
        <p:nvSpPr>
          <p:cNvPr id="9" name="Text 4"/>
          <p:cNvSpPr txBox="1"/>
          <p:nvPr/>
        </p:nvSpPr>
        <p:spPr>
          <a:xfrm>
            <a:off x="7269480" y="4526280"/>
            <a:ext cx="210312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latin typeface="Courier New" pitchFamily="34" charset="0"/>
                <a:ea typeface="Courier New" pitchFamily="34" charset="-122"/>
                <a:cs typeface="Courier New" pitchFamily="34" charset="-120"/>
              </a:rPr>
              <a:t>PARITY</a:t>
            </a:r>
            <a:endParaRPr lang="en-US" sz="1600" dirty="0"/>
          </a:p>
          <a:p>
            <a:pPr marL="0" indent="0">
              <a:spcAft>
                <a:spcPts val="400"/>
              </a:spcAft>
              <a:buNone/>
            </a:pPr>
            <a:r>
              <a:rPr lang="en-US" sz="1400" dirty="0">
                <a:solidFill>
                  <a:schemeClr val="tx1"/>
                </a:solidFill>
              </a:rPr>
              <a:t>Drive the parity bit (if enabled)</a:t>
            </a:r>
            <a:endParaRPr lang="en-US" sz="1600" dirty="0"/>
          </a:p>
        </p:txBody>
      </p:sp>
      <p:sp>
        <p:nvSpPr>
          <p:cNvPr id="10" name="Text 5"/>
          <p:cNvSpPr txBox="1"/>
          <p:nvPr/>
        </p:nvSpPr>
        <p:spPr>
          <a:xfrm>
            <a:off x="9509760" y="4526280"/>
            <a:ext cx="2103120" cy="137160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latin typeface="Courier New" pitchFamily="34" charset="0"/>
                <a:ea typeface="Courier New" pitchFamily="34" charset="-122"/>
                <a:cs typeface="Courier New" pitchFamily="34" charset="-120"/>
              </a:rPr>
              <a:t>STOP</a:t>
            </a:r>
            <a:endParaRPr lang="en-US" sz="1600" dirty="0"/>
          </a:p>
          <a:p>
            <a:pPr marL="0" indent="0">
              <a:spcAft>
                <a:spcPts val="400"/>
              </a:spcAft>
              <a:buNone/>
            </a:pPr>
            <a:r>
              <a:rPr lang="en-US" sz="1400" dirty="0">
                <a:solidFill>
                  <a:schemeClr val="tx1"/>
                </a:solidFill>
              </a:rPr>
              <a:t>Drive 1, then IDLE or next frame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Transmitter RTL (uart_tx.v)</a:t>
            </a:r>
            <a:endParaRPr lang="en-US" sz="3200" dirty="0"/>
          </a:p>
        </p:txBody>
      </p:sp>
      <p:sp>
        <p:nvSpPr>
          <p:cNvPr id="5" name="Text 1"/>
          <p:cNvSpPr txBox="1"/>
          <p:nvPr/>
        </p:nvSpPr>
        <p:spPr>
          <a:xfrm>
            <a:off x="548640" y="3291840"/>
            <a:ext cx="4480560" cy="2926080"/>
          </a:xfrm>
          <a:prstGeom prst="rect">
            <a:avLst/>
          </a:prstGeom>
          <a:noFill/>
          <a:ln/>
        </p:spPr>
        <p:txBody>
          <a:bodyPr wrap="square" lIns="0" tIns="0" rIns="0" bIns="0" rtlCol="0" anchor="t"/>
          <a:lstStyle/>
          <a:p>
            <a:pPr marL="177800" indent="-177800">
              <a:spcAft>
                <a:spcPts val="600"/>
              </a:spcAft>
              <a:buSzPct val="100000"/>
              <a:buChar char="•"/>
            </a:pPr>
            <a:r>
              <a:rPr lang="en-US" sz="1400" b="1" dirty="0"/>
              <a:t> One counter: </a:t>
            </a:r>
            <a:r>
              <a:rPr lang="en-US" sz="1400" b="1" dirty="0" err="1"/>
              <a:t>b_cnt</a:t>
            </a:r>
            <a:r>
              <a:rPr lang="en-US" sz="1400" b="1" dirty="0"/>
              <a:t> counts data bits 0-7;tx_tick from </a:t>
            </a:r>
            <a:r>
              <a:rPr lang="en-US" sz="1400" b="1" dirty="0" err="1"/>
              <a:t>baudrate</a:t>
            </a:r>
            <a:r>
              <a:rPr lang="en-US" sz="1400" b="1" dirty="0"/>
              <a:t> paces one bit per pulse. </a:t>
            </a:r>
          </a:p>
          <a:p>
            <a:pPr marL="177800" indent="-177800">
              <a:spcAft>
                <a:spcPts val="600"/>
              </a:spcAft>
              <a:buSzPct val="100000"/>
              <a:buChar char="•"/>
            </a:pPr>
            <a:r>
              <a:rPr lang="en-US" sz="1400" b="1" dirty="0"/>
              <a:t>Shift register: </a:t>
            </a:r>
            <a:r>
              <a:rPr lang="en-US" sz="1400" b="1" dirty="0" err="1"/>
              <a:t>txd</a:t>
            </a:r>
            <a:r>
              <a:rPr lang="en-US" sz="1400" b="1" dirty="0"/>
              <a:t> &lt;= </a:t>
            </a:r>
            <a:r>
              <a:rPr lang="en-US" sz="1400" b="1" dirty="0" err="1"/>
              <a:t>shreg</a:t>
            </a:r>
            <a:r>
              <a:rPr lang="en-US" sz="1400" b="1" dirty="0"/>
              <a:t>[0], then </a:t>
            </a:r>
            <a:r>
              <a:rPr lang="en-US" sz="1400" b="1" dirty="0" err="1"/>
              <a:t>shreg</a:t>
            </a:r>
            <a:r>
              <a:rPr lang="en-US" sz="1400" b="1" dirty="0"/>
              <a:t> &gt;&gt;1 gives LSB-first order. </a:t>
            </a:r>
          </a:p>
          <a:p>
            <a:pPr marL="177800" indent="-177800">
              <a:spcAft>
                <a:spcPts val="600"/>
              </a:spcAft>
              <a:buSzPct val="100000"/>
              <a:buChar char="•"/>
            </a:pPr>
            <a:r>
              <a:rPr lang="en-US" sz="1400" b="1" dirty="0"/>
              <a:t>Parity: ^</a:t>
            </a:r>
            <a:r>
              <a:rPr lang="en-US" sz="1400" b="1" dirty="0" err="1"/>
              <a:t>tx_data</a:t>
            </a:r>
            <a:r>
              <a:rPr lang="en-US" sz="1400" b="1" dirty="0"/>
              <a:t> ^ </a:t>
            </a:r>
            <a:r>
              <a:rPr lang="en-US" sz="1400" b="1" dirty="0" err="1"/>
              <a:t>par_odd</a:t>
            </a:r>
            <a:r>
              <a:rPr lang="en-US" sz="1400" b="1" dirty="0"/>
              <a:t>, a reduction XOR inverted for odd; sent only if </a:t>
            </a:r>
            <a:r>
              <a:rPr lang="en-US" sz="1400" b="1" dirty="0" err="1"/>
              <a:t>par_en</a:t>
            </a:r>
            <a:r>
              <a:rPr lang="en-US" sz="1400" b="1" dirty="0"/>
              <a:t> = 1. </a:t>
            </a:r>
          </a:p>
          <a:p>
            <a:pPr marL="177800" indent="-177800">
              <a:spcAft>
                <a:spcPts val="600"/>
              </a:spcAft>
              <a:buSzPct val="100000"/>
              <a:buChar char="•"/>
            </a:pPr>
            <a:r>
              <a:rPr lang="en-US" sz="1400" b="1" dirty="0" err="1"/>
              <a:t>tx_busy</a:t>
            </a:r>
            <a:r>
              <a:rPr lang="en-US" sz="1400" b="1" dirty="0"/>
              <a:t> = (state != IDLE): stays high until the stop bit ends; </a:t>
            </a:r>
            <a:r>
              <a:rPr lang="en-US" sz="1400" b="1" dirty="0" err="1"/>
              <a:t>tx_start</a:t>
            </a:r>
            <a:r>
              <a:rPr lang="en-US" sz="1400" b="1" dirty="0"/>
              <a:t> is only taken in IDLE.</a:t>
            </a:r>
          </a:p>
          <a:p>
            <a:pPr marL="177800" indent="-177800">
              <a:spcAft>
                <a:spcPts val="600"/>
              </a:spcAft>
              <a:buSzPct val="100000"/>
              <a:buChar char="•"/>
            </a:pPr>
            <a:r>
              <a:rPr lang="en-US" sz="1400" b="1" dirty="0"/>
              <a:t> </a:t>
            </a:r>
            <a:r>
              <a:rPr lang="en-US" sz="1400" b="1" dirty="0" err="1"/>
              <a:t>txd</a:t>
            </a:r>
            <a:r>
              <a:rPr lang="en-US" sz="1400" b="1" dirty="0"/>
              <a:t> is a register, so no glitch can reach the pin; reset value 1 (idle high)</a:t>
            </a:r>
            <a:endParaRPr lang="en-US" sz="1400" dirty="0"/>
          </a:p>
        </p:txBody>
      </p:sp>
      <p:sp>
        <p:nvSpPr>
          <p:cNvPr id="6" name="code background"/>
          <p:cNvSpPr/>
          <p:nvPr/>
        </p:nvSpPr>
        <p:spPr>
          <a:xfrm>
            <a:off x="5349240" y="1143000"/>
            <a:ext cx="6291072" cy="5120640"/>
          </a:xfrm>
          <a:prstGeom prst="rect">
            <a:avLst/>
          </a:prstGeom>
          <a:solidFill>
            <a:schemeClr val="accent5"/>
          </a:solidFill>
          <a:ln w="12700">
            <a:solidFill>
              <a:schemeClr val="accent5"/>
            </a:solidFill>
            <a:prstDash val="solid"/>
          </a:ln>
        </p:spPr>
        <p:txBody>
          <a:bodyPr/>
          <a:lstStyle/>
          <a:p>
            <a:endParaRPr lang="en-IN"/>
          </a:p>
        </p:txBody>
      </p:sp>
      <p:sp>
        <p:nvSpPr>
          <p:cNvPr id="7" name="Verilog code"/>
          <p:cNvSpPr txBox="1"/>
          <p:nvPr/>
        </p:nvSpPr>
        <p:spPr>
          <a:xfrm>
            <a:off x="5532120" y="1280160"/>
            <a:ext cx="6016752" cy="4846320"/>
          </a:xfrm>
          <a:prstGeom prst="rect">
            <a:avLst/>
          </a:prstGeom>
          <a:noFill/>
          <a:ln/>
        </p:spPr>
        <p:txBody>
          <a:bodyPr wrap="square" lIns="0" tIns="0" rIns="0" bIns="0" rtlCol="0" anchor="t"/>
          <a:lstStyle/>
          <a:p>
            <a:pPr marL="0" indent="0">
              <a:lnSpc>
                <a:spcPct val="100000"/>
              </a:lnSpc>
              <a:buNone/>
            </a:pP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pic>
        <p:nvPicPr>
          <p:cNvPr id="8" name="Picture 7">
            <a:extLst>
              <a:ext uri="{FF2B5EF4-FFF2-40B4-BE49-F238E27FC236}">
                <a16:creationId xmlns:a16="http://schemas.microsoft.com/office/drawing/2014/main" id="{F91642CE-8C4C-6CF0-A92C-1474F1F554D3}"/>
              </a:ext>
            </a:extLst>
          </p:cNvPr>
          <p:cNvPicPr>
            <a:picLocks noChangeAspect="1"/>
          </p:cNvPicPr>
          <p:nvPr/>
        </p:nvPicPr>
        <p:blipFill>
          <a:blip r:embed="rId3"/>
          <a:stretch>
            <a:fillRect/>
          </a:stretch>
        </p:blipFill>
        <p:spPr>
          <a:xfrm>
            <a:off x="408854" y="1280160"/>
            <a:ext cx="4848945" cy="1903445"/>
          </a:xfrm>
          <a:prstGeom prst="rect">
            <a:avLst/>
          </a:prstGeom>
        </p:spPr>
      </p:pic>
      <p:pic>
        <p:nvPicPr>
          <p:cNvPr id="10" name="Picture 9">
            <a:extLst>
              <a:ext uri="{FF2B5EF4-FFF2-40B4-BE49-F238E27FC236}">
                <a16:creationId xmlns:a16="http://schemas.microsoft.com/office/drawing/2014/main" id="{462E1342-62B3-0512-F85D-67A5DD35E8B7}"/>
              </a:ext>
            </a:extLst>
          </p:cNvPr>
          <p:cNvPicPr>
            <a:picLocks noChangeAspect="1"/>
          </p:cNvPicPr>
          <p:nvPr/>
        </p:nvPicPr>
        <p:blipFill>
          <a:blip r:embed="rId4"/>
          <a:stretch>
            <a:fillRect/>
          </a:stretch>
        </p:blipFill>
        <p:spPr>
          <a:xfrm>
            <a:off x="5389287" y="1143000"/>
            <a:ext cx="6342466" cy="5120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Module </a:t>
            </a:r>
            <a:r>
              <a:rPr lang="en-US" dirty="0"/>
              <a:t>3</a:t>
            </a:r>
            <a:r>
              <a:rPr lang="en-US" sz="3200" b="1" dirty="0">
                <a:solidFill>
                  <a:schemeClr val="tx1"/>
                </a:solidFill>
                <a:latin typeface="Arial" pitchFamily="34" charset="0"/>
                <a:ea typeface="Arial" pitchFamily="34" charset="-122"/>
                <a:cs typeface="Arial" pitchFamily="34" charset="-120"/>
              </a:rPr>
              <a:t>: receiver oversampling and clock tolerance</a:t>
            </a:r>
            <a:endParaRPr lang="en-US" sz="3200" dirty="0"/>
          </a:p>
        </p:txBody>
      </p:sp>
      <p:sp>
        <p:nvSpPr>
          <p:cNvPr id="4" name="Text 1"/>
          <p:cNvSpPr txBox="1"/>
          <p:nvPr/>
        </p:nvSpPr>
        <p:spPr>
          <a:xfrm>
            <a:off x="548640" y="1280160"/>
            <a:ext cx="3566160" cy="384048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The receiver waits </a:t>
            </a:r>
            <a:r>
              <a:rPr lang="en-US" sz="1500" b="1" dirty="0">
                <a:solidFill>
                  <a:schemeClr val="tx1"/>
                </a:solidFill>
              </a:rPr>
              <a:t>8 ticks</a:t>
            </a:r>
            <a:r>
              <a:rPr lang="en-US" sz="1500" dirty="0">
                <a:solidFill>
                  <a:schemeClr val="tx1"/>
                </a:solidFill>
              </a:rPr>
              <a:t> after the falling edge to reach the middle of the start bit, then samples every </a:t>
            </a:r>
            <a:r>
              <a:rPr lang="en-US" sz="1500" b="1" dirty="0">
                <a:solidFill>
                  <a:schemeClr val="tx1"/>
                </a:solidFill>
              </a:rPr>
              <a:t>16 ticks</a:t>
            </a:r>
            <a:r>
              <a:rPr lang="en-US" sz="1500" dirty="0">
                <a:solidFill>
                  <a:schemeClr val="tx1"/>
                </a:solidFill>
              </a:rPr>
              <a:t>.</a:t>
            </a:r>
            <a:endParaRPr lang="en-US" sz="1500" dirty="0"/>
          </a:p>
          <a:p>
            <a:pPr marL="0" indent="0">
              <a:spcAft>
                <a:spcPts val="400"/>
              </a:spcAft>
              <a:buNone/>
            </a:pPr>
            <a:r>
              <a:rPr lang="en-US" sz="600" dirty="0">
                <a:solidFill>
                  <a:schemeClr val="tx1"/>
                </a:solidFill>
              </a:rPr>
              <a:t> </a:t>
            </a:r>
            <a:endParaRPr lang="en-US" sz="1500" dirty="0"/>
          </a:p>
          <a:p>
            <a:pPr marL="0" indent="0">
              <a:spcAft>
                <a:spcPts val="400"/>
              </a:spcAft>
              <a:buNone/>
            </a:pPr>
            <a:r>
              <a:rPr lang="en-US" sz="1500" dirty="0">
                <a:solidFill>
                  <a:schemeClr val="tx1"/>
                </a:solidFill>
              </a:rPr>
              <a:t>Clock mismatch shifts every sample a little more, so the stop bit (9.5 bits after the edge) drifts most. Half a bit of slack over 9.5 bits ≈ 5%; minus 1/16-bit sampling uncertainty ≈ 4.5% total, or about ±2% per device.</a:t>
            </a:r>
            <a:endParaRPr lang="en-US" sz="1500" dirty="0"/>
          </a:p>
        </p:txBody>
      </p:sp>
      <p:sp>
        <p:nvSpPr>
          <p:cNvPr id="5" name="Text 2"/>
          <p:cNvSpPr txBox="1"/>
          <p:nvPr/>
        </p:nvSpPr>
        <p:spPr>
          <a:xfrm>
            <a:off x="548640" y="5257800"/>
            <a:ext cx="3566160" cy="731520"/>
          </a:xfrm>
          <a:prstGeom prst="rect">
            <a:avLst/>
          </a:prstGeom>
          <a:noFill/>
          <a:ln/>
        </p:spPr>
        <p:txBody>
          <a:bodyPr wrap="square" lIns="0" tIns="0" rIns="0" bIns="0" rtlCol="0" anchor="t"/>
          <a:lstStyle/>
          <a:p>
            <a:pPr marL="0" indent="0">
              <a:spcAft>
                <a:spcPts val="400"/>
              </a:spcAft>
              <a:buNone/>
            </a:pPr>
            <a:r>
              <a:rPr lang="en-US" sz="1200" dirty="0">
                <a:solidFill>
                  <a:schemeClr val="tx2"/>
                </a:solidFill>
              </a:rPr>
              <a:t>Green dot: safe sample. Hollow orange: within 1/16 bit of an edge. Orange ×: wrong bit.</a:t>
            </a:r>
            <a:endParaRPr lang="en-US" sz="1200" dirty="0"/>
          </a:p>
        </p:txBody>
      </p:sp>
      <p:sp>
        <p:nvSpPr>
          <p:cNvPr id="6" name="Text 3"/>
          <p:cNvSpPr txBox="1"/>
          <p:nvPr/>
        </p:nvSpPr>
        <p:spPr>
          <a:xfrm>
            <a:off x="4434840" y="1234440"/>
            <a:ext cx="7205472" cy="32004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0% mismatch: every sample centred → 0x4B, correct</a:t>
            </a:r>
            <a:endParaRPr lang="en-US" sz="1400" dirty="0"/>
          </a:p>
        </p:txBody>
      </p:sp>
      <p:pic>
        <p:nvPicPr>
          <p:cNvPr id="7" name="Image 0" descr="os 0"/>
          <p:cNvPicPr>
            <a:picLocks noChangeAspect="1"/>
          </p:cNvPicPr>
          <p:nvPr/>
        </p:nvPicPr>
        <p:blipFill>
          <a:blip r:embed="rId3"/>
          <a:stretch>
            <a:fillRect/>
          </a:stretch>
        </p:blipFill>
        <p:spPr>
          <a:xfrm>
            <a:off x="4434840" y="1581912"/>
            <a:ext cx="7205472" cy="1097449"/>
          </a:xfrm>
          <a:prstGeom prst="rect">
            <a:avLst/>
          </a:prstGeom>
        </p:spPr>
      </p:pic>
      <p:sp>
        <p:nvSpPr>
          <p:cNvPr id="8" name="Text 4"/>
          <p:cNvSpPr txBox="1"/>
          <p:nvPr/>
        </p:nvSpPr>
        <p:spPr>
          <a:xfrm>
            <a:off x="4434840" y="2907792"/>
            <a:ext cx="7205472" cy="32004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+5%: stop sample 45% off centre → correct, but marginal</a:t>
            </a:r>
            <a:endParaRPr lang="en-US" sz="1400" dirty="0"/>
          </a:p>
        </p:txBody>
      </p:sp>
      <p:pic>
        <p:nvPicPr>
          <p:cNvPr id="9" name="Image 1" descr="os p5"/>
          <p:cNvPicPr>
            <a:picLocks noChangeAspect="1"/>
          </p:cNvPicPr>
          <p:nvPr/>
        </p:nvPicPr>
        <p:blipFill>
          <a:blip r:embed="rId4"/>
          <a:stretch>
            <a:fillRect/>
          </a:stretch>
        </p:blipFill>
        <p:spPr>
          <a:xfrm>
            <a:off x="4434840" y="3255264"/>
            <a:ext cx="7205472" cy="1097449"/>
          </a:xfrm>
          <a:prstGeom prst="rect">
            <a:avLst/>
          </a:prstGeom>
        </p:spPr>
      </p:pic>
      <p:sp>
        <p:nvSpPr>
          <p:cNvPr id="10" name="Text 5"/>
          <p:cNvSpPr txBox="1"/>
          <p:nvPr/>
        </p:nvSpPr>
        <p:spPr>
          <a:xfrm>
            <a:off x="4434840" y="4581144"/>
            <a:ext cx="7205472" cy="320040"/>
          </a:xfrm>
          <a:prstGeom prst="rect">
            <a:avLst/>
          </a:prstGeom>
          <a:noFill/>
          <a:ln/>
        </p:spPr>
        <p:txBody>
          <a:bodyPr wrap="square" lIns="0" tIns="0" rIns="0" bIns="0" rtlCol="0" anchor="t"/>
          <a:lstStyle/>
          <a:p>
            <a:pPr marL="0" indent="0">
              <a:spcAft>
                <a:spcPts val="400"/>
              </a:spcAft>
              <a:buNone/>
            </a:pPr>
            <a:r>
              <a:rPr lang="en-US" sz="1400" b="1" dirty="0">
                <a:solidFill>
                  <a:schemeClr val="accent2"/>
                </a:solidFill>
              </a:rPr>
              <a:t>+6%: stop sample lands in D7 (0) → framing error</a:t>
            </a:r>
            <a:endParaRPr lang="en-US" sz="1400" dirty="0"/>
          </a:p>
        </p:txBody>
      </p:sp>
      <p:pic>
        <p:nvPicPr>
          <p:cNvPr id="11" name="Image 2" descr="os p6"/>
          <p:cNvPicPr>
            <a:picLocks noChangeAspect="1"/>
          </p:cNvPicPr>
          <p:nvPr/>
        </p:nvPicPr>
        <p:blipFill>
          <a:blip r:embed="rId5"/>
          <a:stretch>
            <a:fillRect/>
          </a:stretch>
        </p:blipFill>
        <p:spPr>
          <a:xfrm>
            <a:off x="4434840" y="4928616"/>
            <a:ext cx="7205472" cy="1097449"/>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Receiver RTL (uart_rx.v)</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715034810"/>
              </p:ext>
            </p:extLst>
          </p:nvPr>
        </p:nvGraphicFramePr>
        <p:xfrm>
          <a:off x="548640" y="1280160"/>
          <a:ext cx="4480560" cy="3968496"/>
        </p:xfrm>
        <a:graphic>
          <a:graphicData uri="http://schemas.openxmlformats.org/drawingml/2006/table">
            <a:tbl>
              <a:tblPr/>
              <a:tblGrid>
                <a:gridCol w="10972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66928">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State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IDLE</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Wait for </a:t>
                      </a:r>
                      <a:r>
                        <a:rPr lang="en-US" sz="1400" dirty="0" err="1">
                          <a:solidFill>
                            <a:schemeClr val="tx1"/>
                          </a:solidFill>
                          <a:latin typeface="Calibri" pitchFamily="34" charset="0"/>
                          <a:ea typeface="Calibri" pitchFamily="34" charset="-122"/>
                          <a:cs typeface="Calibri" pitchFamily="34" charset="-120"/>
                        </a:rPr>
                        <a:t>rxd</a:t>
                      </a:r>
                      <a:r>
                        <a:rPr lang="en-US" sz="1400" dirty="0">
                          <a:solidFill>
                            <a:schemeClr val="tx1"/>
                          </a:solidFill>
                          <a:latin typeface="Calibri" pitchFamily="34" charset="0"/>
                          <a:ea typeface="Calibri" pitchFamily="34" charset="-122"/>
                          <a:cs typeface="Calibri" pitchFamily="34" charset="-120"/>
                        </a:rPr>
                        <a:t> to fall (checked every clock)</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START</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After 8 ticks recheck: 0 - DATA, 1 -glitch, IDLE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DATA</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Every 16 ticks shift </a:t>
                      </a:r>
                      <a:r>
                        <a:rPr lang="en-US" sz="1400" dirty="0" err="1">
                          <a:solidFill>
                            <a:schemeClr val="tx1"/>
                          </a:solidFill>
                          <a:latin typeface="Calibri" pitchFamily="34" charset="0"/>
                          <a:ea typeface="Calibri" pitchFamily="34" charset="-122"/>
                          <a:cs typeface="Calibri" pitchFamily="34" charset="-120"/>
                        </a:rPr>
                        <a:t>rxd</a:t>
                      </a:r>
                      <a:r>
                        <a:rPr lang="en-US" sz="1400" dirty="0">
                          <a:solidFill>
                            <a:schemeClr val="tx1"/>
                          </a:solidFill>
                          <a:latin typeface="Calibri" pitchFamily="34" charset="0"/>
                          <a:ea typeface="Calibri" pitchFamily="34" charset="-122"/>
                          <a:cs typeface="Calibri" pitchFamily="34" charset="-120"/>
                        </a:rPr>
                        <a:t> in from the left, 8 times (LSB first)</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PARITY</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Capture the parity bit (if enabled)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STOP</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Sample stop; output byte, </a:t>
                      </a:r>
                      <a:r>
                        <a:rPr lang="en-US" sz="1400" dirty="0" err="1">
                          <a:solidFill>
                            <a:schemeClr val="tx1"/>
                          </a:solidFill>
                          <a:latin typeface="Calibri" pitchFamily="34" charset="0"/>
                          <a:ea typeface="Calibri" pitchFamily="34" charset="-122"/>
                          <a:cs typeface="Calibri" pitchFamily="34" charset="-120"/>
                        </a:rPr>
                        <a:t>rx_valid</a:t>
                      </a:r>
                      <a:r>
                        <a:rPr lang="en-US" sz="1400" dirty="0">
                          <a:solidFill>
                            <a:schemeClr val="tx1"/>
                          </a:solidFill>
                          <a:latin typeface="Calibri" pitchFamily="34" charset="0"/>
                          <a:ea typeface="Calibri" pitchFamily="34" charset="-122"/>
                          <a:cs typeface="Calibri" pitchFamily="34" charset="-120"/>
                        </a:rPr>
                        <a:t> and error flags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400" b="1" dirty="0">
                          <a:solidFill>
                            <a:schemeClr val="tx1"/>
                          </a:solidFill>
                          <a:latin typeface="Courier New" pitchFamily="34" charset="0"/>
                          <a:ea typeface="Courier New" pitchFamily="34" charset="-122"/>
                          <a:cs typeface="Courier New" pitchFamily="34" charset="-120"/>
                        </a:rPr>
                        <a:t>WAIT</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After framing error or break, wait for line high</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1"/>
          <p:cNvSpPr txBox="1"/>
          <p:nvPr/>
        </p:nvSpPr>
        <p:spPr>
          <a:xfrm>
            <a:off x="548640" y="5440680"/>
            <a:ext cx="4480560" cy="731520"/>
          </a:xfrm>
          <a:prstGeom prst="rect">
            <a:avLst/>
          </a:prstGeom>
          <a:noFill/>
          <a:ln/>
        </p:spPr>
        <p:txBody>
          <a:bodyPr wrap="square" lIns="0" tIns="0" rIns="0" bIns="0" rtlCol="0" anchor="t"/>
          <a:lstStyle/>
          <a:p>
            <a:pPr marL="0" indent="0">
              <a:spcAft>
                <a:spcPts val="400"/>
              </a:spcAft>
              <a:buNone/>
            </a:pPr>
            <a:r>
              <a:rPr lang="en-US" sz="1400" dirty="0">
                <a:solidFill>
                  <a:schemeClr val="tx2"/>
                </a:solidFill>
              </a:rPr>
              <a:t>Each received byte travels to the RX FIFO together with its parity, framing and break flags.</a:t>
            </a:r>
            <a:endParaRPr lang="en-US" sz="1400" dirty="0"/>
          </a:p>
        </p:txBody>
      </p:sp>
      <p:sp>
        <p:nvSpPr>
          <p:cNvPr id="6" name="code background"/>
          <p:cNvSpPr/>
          <p:nvPr/>
        </p:nvSpPr>
        <p:spPr>
          <a:xfrm>
            <a:off x="5349240" y="1143000"/>
            <a:ext cx="6291072" cy="5120640"/>
          </a:xfrm>
          <a:prstGeom prst="rect">
            <a:avLst/>
          </a:prstGeom>
          <a:solidFill>
            <a:schemeClr val="accent5"/>
          </a:solidFill>
          <a:ln w="12700">
            <a:solidFill>
              <a:schemeClr val="accent5"/>
            </a:solidFill>
            <a:prstDash val="solid"/>
          </a:ln>
        </p:spPr>
        <p:txBody>
          <a:bodyPr/>
          <a:lstStyle/>
          <a:p>
            <a:endParaRPr lang="en-IN"/>
          </a:p>
        </p:txBody>
      </p:sp>
      <p:sp>
        <p:nvSpPr>
          <p:cNvPr id="7" name="Verilog code"/>
          <p:cNvSpPr txBox="1"/>
          <p:nvPr/>
        </p:nvSpPr>
        <p:spPr>
          <a:xfrm>
            <a:off x="5532120" y="1280160"/>
            <a:ext cx="6016752" cy="4846320"/>
          </a:xfrm>
          <a:prstGeom prst="rect">
            <a:avLst/>
          </a:prstGeom>
          <a:noFill/>
          <a:ln/>
        </p:spPr>
        <p:txBody>
          <a:bodyPr wrap="square" lIns="0" tIns="0" rIns="0" bIns="0" rtlCol="0" anchor="t"/>
          <a:lstStyle/>
          <a:p>
            <a:pPr marL="0" indent="0">
              <a:lnSpc>
                <a:spcPct val="100000"/>
              </a:lnSpc>
              <a:buNone/>
            </a:pPr>
            <a:endParaRPr lang="en-US" sz="10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pic>
        <p:nvPicPr>
          <p:cNvPr id="4" name="Picture 3">
            <a:extLst>
              <a:ext uri="{FF2B5EF4-FFF2-40B4-BE49-F238E27FC236}">
                <a16:creationId xmlns:a16="http://schemas.microsoft.com/office/drawing/2014/main" id="{0C5B824B-424A-7ADF-F63F-E5091D5DA544}"/>
              </a:ext>
            </a:extLst>
          </p:cNvPr>
          <p:cNvPicPr>
            <a:picLocks noChangeAspect="1"/>
          </p:cNvPicPr>
          <p:nvPr/>
        </p:nvPicPr>
        <p:blipFill>
          <a:blip r:embed="rId3"/>
          <a:stretch>
            <a:fillRect/>
          </a:stretch>
        </p:blipFill>
        <p:spPr>
          <a:xfrm>
            <a:off x="5440680" y="1143000"/>
            <a:ext cx="6217920" cy="5120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Parity generation and checking</a:t>
            </a:r>
            <a:endParaRPr lang="en-US" sz="3200" dirty="0"/>
          </a:p>
        </p:txBody>
      </p:sp>
      <p:sp>
        <p:nvSpPr>
          <p:cNvPr id="4" name="Text 1"/>
          <p:cNvSpPr txBox="1"/>
          <p:nvPr/>
        </p:nvSpPr>
        <p:spPr>
          <a:xfrm>
            <a:off x="548640" y="1188720"/>
            <a:ext cx="11064240" cy="640080"/>
          </a:xfrm>
          <a:prstGeom prst="rect">
            <a:avLst/>
          </a:prstGeom>
          <a:noFill/>
          <a:ln/>
        </p:spPr>
        <p:txBody>
          <a:bodyPr wrap="square" lIns="0" tIns="0" rIns="0" bIns="0" rtlCol="0" anchor="t"/>
          <a:lstStyle/>
          <a:p>
            <a:pPr marL="0" indent="0">
              <a:spcAft>
                <a:spcPts val="400"/>
              </a:spcAft>
              <a:buNone/>
            </a:pPr>
            <a:r>
              <a:rPr lang="en-US" sz="1600" dirty="0">
                <a:solidFill>
                  <a:schemeClr val="tx2"/>
                </a:solidFill>
              </a:rPr>
              <a:t>One extra bit makes the total count of 1s even (even parity) or odd (odd parity). Generation and checking are each a single XOR tree.</a:t>
            </a:r>
            <a:endParaRPr lang="en-US" sz="1600" dirty="0"/>
          </a:p>
        </p:txBody>
      </p:sp>
      <p:sp>
        <p:nvSpPr>
          <p:cNvPr id="5" name="Text 2"/>
          <p:cNvSpPr txBox="1"/>
          <p:nvPr/>
        </p:nvSpPr>
        <p:spPr>
          <a:xfrm>
            <a:off x="548640" y="1965960"/>
            <a:ext cx="3566160" cy="36576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Generation (transmitter)</a:t>
            </a:r>
            <a:endParaRPr lang="en-US" sz="1700" dirty="0"/>
          </a:p>
        </p:txBody>
      </p:sp>
      <p:sp>
        <p:nvSpPr>
          <p:cNvPr id="6" name="Shape 3"/>
          <p:cNvSpPr/>
          <p:nvPr/>
        </p:nvSpPr>
        <p:spPr>
          <a:xfrm>
            <a:off x="548640" y="2377440"/>
            <a:ext cx="3566160" cy="502920"/>
          </a:xfrm>
          <a:prstGeom prst="rect">
            <a:avLst/>
          </a:prstGeom>
          <a:solidFill>
            <a:schemeClr val="accent5"/>
          </a:solidFill>
          <a:ln w="12700">
            <a:solidFill>
              <a:schemeClr val="accent5"/>
            </a:solidFill>
            <a:prstDash val="solid"/>
          </a:ln>
        </p:spPr>
        <p:txBody>
          <a:bodyPr/>
          <a:lstStyle/>
          <a:p>
            <a:endParaRPr lang="en-IN"/>
          </a:p>
        </p:txBody>
      </p:sp>
      <p:sp>
        <p:nvSpPr>
          <p:cNvPr id="7" name="Text 4"/>
          <p:cNvSpPr txBox="1"/>
          <p:nvPr/>
        </p:nvSpPr>
        <p:spPr>
          <a:xfrm>
            <a:off x="685800" y="2377440"/>
            <a:ext cx="3383280" cy="502920"/>
          </a:xfrm>
          <a:prstGeom prst="rect">
            <a:avLst/>
          </a:prstGeom>
          <a:noFill/>
          <a:ln/>
        </p:spPr>
        <p:txBody>
          <a:bodyPr wrap="square" lIns="0" tIns="0" rIns="0" bIns="0" rtlCol="0" anchor="ctr"/>
          <a:lstStyle/>
          <a:p>
            <a:pPr marL="0" indent="0">
              <a:spcAft>
                <a:spcPts val="400"/>
              </a:spcAft>
              <a:buNone/>
            </a:pPr>
            <a:r>
              <a:rPr lang="en-US" sz="1300" dirty="0">
                <a:solidFill>
                  <a:schemeClr val="tx1"/>
                </a:solidFill>
                <a:latin typeface="Courier New" pitchFamily="34" charset="0"/>
                <a:ea typeface="Courier New" pitchFamily="34" charset="-122"/>
                <a:cs typeface="Courier New" pitchFamily="34" charset="-120"/>
              </a:rPr>
              <a:t>par = ^tx_data ^ par_odd;</a:t>
            </a:r>
            <a:endParaRPr lang="en-US" sz="1300" dirty="0"/>
          </a:p>
        </p:txBody>
      </p:sp>
      <p:sp>
        <p:nvSpPr>
          <p:cNvPr id="8" name="Text 5"/>
          <p:cNvSpPr txBox="1"/>
          <p:nvPr/>
        </p:nvSpPr>
        <p:spPr>
          <a:xfrm>
            <a:off x="548640" y="3017520"/>
            <a:ext cx="3566160" cy="14630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^tx_data is 1 when the count of 1s is odd: exactly the even-parity bit. Inverting it gives odd parity.</a:t>
            </a:r>
            <a:endParaRPr lang="en-US" sz="1500" dirty="0"/>
          </a:p>
        </p:txBody>
      </p:sp>
      <p:sp>
        <p:nvSpPr>
          <p:cNvPr id="9" name="Text 6"/>
          <p:cNvSpPr txBox="1"/>
          <p:nvPr/>
        </p:nvSpPr>
        <p:spPr>
          <a:xfrm>
            <a:off x="4343400" y="1965960"/>
            <a:ext cx="3566160" cy="36576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Checking (receiver)</a:t>
            </a:r>
            <a:endParaRPr lang="en-US" sz="1700" dirty="0"/>
          </a:p>
        </p:txBody>
      </p:sp>
      <p:sp>
        <p:nvSpPr>
          <p:cNvPr id="10" name="Shape 7"/>
          <p:cNvSpPr/>
          <p:nvPr/>
        </p:nvSpPr>
        <p:spPr>
          <a:xfrm>
            <a:off x="4343400" y="2377440"/>
            <a:ext cx="3566160" cy="502920"/>
          </a:xfrm>
          <a:prstGeom prst="rect">
            <a:avLst/>
          </a:prstGeom>
          <a:solidFill>
            <a:schemeClr val="accent5"/>
          </a:solidFill>
          <a:ln w="12700">
            <a:solidFill>
              <a:schemeClr val="accent5"/>
            </a:solidFill>
            <a:prstDash val="solid"/>
          </a:ln>
        </p:spPr>
        <p:txBody>
          <a:bodyPr/>
          <a:lstStyle/>
          <a:p>
            <a:endParaRPr lang="en-IN"/>
          </a:p>
        </p:txBody>
      </p:sp>
      <p:sp>
        <p:nvSpPr>
          <p:cNvPr id="11" name="Text 8"/>
          <p:cNvSpPr txBox="1"/>
          <p:nvPr/>
        </p:nvSpPr>
        <p:spPr>
          <a:xfrm>
            <a:off x="4480560" y="2377440"/>
            <a:ext cx="3383280" cy="502920"/>
          </a:xfrm>
          <a:prstGeom prst="rect">
            <a:avLst/>
          </a:prstGeom>
          <a:noFill/>
          <a:ln/>
        </p:spPr>
        <p:txBody>
          <a:bodyPr wrap="square" lIns="0" tIns="0" rIns="0" bIns="0" rtlCol="0" anchor="ctr"/>
          <a:lstStyle/>
          <a:p>
            <a:pPr marL="0" indent="0">
              <a:spcAft>
                <a:spcPts val="400"/>
              </a:spcAft>
              <a:buNone/>
            </a:pPr>
            <a:r>
              <a:rPr lang="en-US" sz="1300" dirty="0">
                <a:solidFill>
                  <a:schemeClr val="tx1"/>
                </a:solidFill>
                <a:latin typeface="Courier New" pitchFamily="34" charset="0"/>
                <a:ea typeface="Courier New" pitchFamily="34" charset="-122"/>
                <a:cs typeface="Courier New" pitchFamily="34" charset="-120"/>
              </a:rPr>
              <a:t>^shreg ^ par_odd ^ par_bit</a:t>
            </a:r>
            <a:endParaRPr lang="en-US" sz="1300" dirty="0"/>
          </a:p>
        </p:txBody>
      </p:sp>
      <p:sp>
        <p:nvSpPr>
          <p:cNvPr id="12" name="Text 9"/>
          <p:cNvSpPr txBox="1"/>
          <p:nvPr/>
        </p:nvSpPr>
        <p:spPr>
          <a:xfrm>
            <a:off x="4343400" y="3017520"/>
            <a:ext cx="3566160" cy="14630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Recompute and XOR with the received bit: 0 = consistent, 1 = error. Stored as STATUS[4].</a:t>
            </a:r>
            <a:endParaRPr lang="en-US" sz="1500" dirty="0"/>
          </a:p>
        </p:txBody>
      </p:sp>
      <p:sp>
        <p:nvSpPr>
          <p:cNvPr id="13" name="Text 10"/>
          <p:cNvSpPr txBox="1"/>
          <p:nvPr/>
        </p:nvSpPr>
        <p:spPr>
          <a:xfrm>
            <a:off x="8138160" y="1965960"/>
            <a:ext cx="3502152" cy="365760"/>
          </a:xfrm>
          <a:prstGeom prst="rect">
            <a:avLst/>
          </a:prstGeom>
          <a:noFill/>
          <a:ln/>
        </p:spPr>
        <p:txBody>
          <a:bodyPr wrap="square" lIns="0" tIns="0" rIns="0" bIns="0" rtlCol="0" anchor="t"/>
          <a:lstStyle/>
          <a:p>
            <a:pPr marL="0" indent="0">
              <a:spcAft>
                <a:spcPts val="400"/>
              </a:spcAft>
              <a:buNone/>
            </a:pPr>
            <a:r>
              <a:rPr lang="en-US" sz="1700" b="1" dirty="0">
                <a:solidFill>
                  <a:schemeClr val="tx1"/>
                </a:solidFill>
              </a:rPr>
              <a:t>Worked examples</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38160" y="2377440"/>
          <a:ext cx="3502152" cy="2057400"/>
        </p:xfrm>
        <a:graphic>
          <a:graphicData uri="http://schemas.openxmlformats.org/drawingml/2006/table">
            <a:tbl>
              <a:tblPr/>
              <a:tblGrid>
                <a:gridCol w="14630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58952">
                  <a:extLst>
                    <a:ext uri="{9D8B030D-6E8A-4147-A177-3AD203B41FA5}">
                      <a16:colId xmlns:a16="http://schemas.microsoft.com/office/drawing/2014/main" val="20003"/>
                    </a:ext>
                  </a:extLst>
                </a:gridCol>
              </a:tblGrid>
              <a:tr h="411480">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1s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Even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tx2"/>
                          </a:solidFill>
                          <a:latin typeface="Calibri" pitchFamily="34" charset="0"/>
                          <a:ea typeface="Calibri" pitchFamily="34" charset="-122"/>
                          <a:cs typeface="Calibri" pitchFamily="34" charset="-120"/>
                        </a:rPr>
                        <a:t>Odd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0100 1011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1010 0101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0000 0111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1111 1111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Shape 11"/>
          <p:cNvSpPr/>
          <p:nvPr/>
        </p:nvSpPr>
        <p:spPr>
          <a:xfrm>
            <a:off x="548640" y="4846320"/>
            <a:ext cx="11091672" cy="1097280"/>
          </a:xfrm>
          <a:prstGeom prst="rect">
            <a:avLst/>
          </a:prstGeom>
          <a:solidFill>
            <a:schemeClr val="tx1"/>
          </a:solidFill>
          <a:ln w="12700">
            <a:solidFill>
              <a:schemeClr val="tx1"/>
            </a:solidFill>
            <a:prstDash val="solid"/>
          </a:ln>
        </p:spPr>
        <p:txBody>
          <a:bodyPr/>
          <a:lstStyle/>
          <a:p>
            <a:endParaRPr lang="en-IN"/>
          </a:p>
        </p:txBody>
      </p:sp>
      <p:sp>
        <p:nvSpPr>
          <p:cNvPr id="16" name="Text 12"/>
          <p:cNvSpPr txBox="1"/>
          <p:nvPr/>
        </p:nvSpPr>
        <p:spPr>
          <a:xfrm>
            <a:off x="777240" y="4937760"/>
            <a:ext cx="10607040" cy="914400"/>
          </a:xfrm>
          <a:prstGeom prst="rect">
            <a:avLst/>
          </a:prstGeom>
          <a:noFill/>
          <a:ln/>
        </p:spPr>
        <p:txBody>
          <a:bodyPr wrap="square" lIns="0" tIns="0" rIns="0" bIns="0" rtlCol="0" anchor="ctr"/>
          <a:lstStyle/>
          <a:p>
            <a:pPr marL="0" indent="0">
              <a:spcAft>
                <a:spcPts val="400"/>
              </a:spcAft>
              <a:buNone/>
            </a:pPr>
            <a:r>
              <a:rPr lang="en-US" sz="1500" b="1" dirty="0">
                <a:solidFill>
                  <a:schemeClr val="bg2"/>
                </a:solidFill>
              </a:rPr>
              <a:t>Limitation: </a:t>
            </a:r>
            <a:r>
              <a:rPr lang="en-US" sz="1500" dirty="0">
                <a:solidFill>
                  <a:schemeClr val="accent6"/>
                </a:solidFill>
              </a:rPr>
              <a:t>parity catches any odd number of flipped bits but misses an even number (two flips cancel), and it cannot correct anything. Protocols needing stronger protection add a CRC.</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Module 4: top-level integration (uart_top.v)</a:t>
            </a:r>
            <a:endParaRPr lang="en-US" sz="3200" dirty="0"/>
          </a:p>
        </p:txBody>
      </p:sp>
      <p:sp>
        <p:nvSpPr>
          <p:cNvPr id="4" name="Text 1"/>
          <p:cNvSpPr txBox="1"/>
          <p:nvPr/>
        </p:nvSpPr>
        <p:spPr>
          <a:xfrm>
            <a:off x="548640" y="1325880"/>
            <a:ext cx="4572000" cy="4846320"/>
          </a:xfrm>
          <a:prstGeom prst="rect">
            <a:avLst/>
          </a:prstGeom>
          <a:noFill/>
          <a:ln/>
        </p:spPr>
        <p:txBody>
          <a:bodyPr wrap="square" lIns="0" tIns="0" rIns="0" bIns="0" rtlCol="0" anchor="t"/>
          <a:lstStyle/>
          <a:p>
            <a:pPr marL="177800" indent="-177800">
              <a:spcAft>
                <a:spcPts val="600"/>
              </a:spcAft>
              <a:buSzPct val="100000"/>
              <a:buChar char="•"/>
            </a:pPr>
            <a:r>
              <a:rPr lang="en-US" sz="1500" b="1" dirty="0">
                <a:solidFill>
                  <a:schemeClr val="tx1"/>
                </a:solidFill>
              </a:rPr>
              <a:t>Instantiates </a:t>
            </a:r>
            <a:r>
              <a:rPr lang="en-IN" dirty="0" err="1"/>
              <a:t>baudrate</a:t>
            </a:r>
            <a:r>
              <a:rPr lang="en-IN" sz="1600" dirty="0"/>
              <a:t>, </a:t>
            </a:r>
            <a:r>
              <a:rPr lang="en-IN" dirty="0" err="1"/>
              <a:t>uart_tx</a:t>
            </a:r>
            <a:r>
              <a:rPr lang="en-IN" sz="1600" dirty="0"/>
              <a:t> and </a:t>
            </a:r>
            <a:r>
              <a:rPr lang="en-IN" dirty="0" err="1"/>
              <a:t>uart_rx</a:t>
            </a:r>
            <a:r>
              <a:rPr lang="en-IN" sz="1600" dirty="0"/>
              <a:t>; no FIFOs, registers or synchronizer in this design</a:t>
            </a:r>
            <a:endParaRPr lang="en-US" sz="1500" dirty="0"/>
          </a:p>
          <a:p>
            <a:pPr marL="177800" indent="-177800">
              <a:spcAft>
                <a:spcPts val="600"/>
              </a:spcAft>
              <a:buSzPct val="100000"/>
              <a:buChar char="•"/>
            </a:pPr>
            <a:r>
              <a:rPr lang="en-US" sz="1500" b="1" dirty="0">
                <a:solidFill>
                  <a:schemeClr val="tx1"/>
                </a:solidFill>
              </a:rPr>
              <a:t>Address decode </a:t>
            </a:r>
            <a:r>
              <a:rPr lang="en-IN" sz="1600" b="1" dirty="0"/>
              <a:t>One tick source:</a:t>
            </a:r>
            <a:r>
              <a:rPr lang="en-IN" sz="1600" dirty="0"/>
              <a:t> </a:t>
            </a:r>
            <a:r>
              <a:rPr lang="en-IN" dirty="0" err="1"/>
              <a:t>baudrate</a:t>
            </a:r>
            <a:r>
              <a:rPr lang="en-IN" sz="1600" dirty="0"/>
              <a:t> makes </a:t>
            </a:r>
            <a:r>
              <a:rPr lang="en-IN" dirty="0" err="1"/>
              <a:t>tx_tick</a:t>
            </a:r>
            <a:r>
              <a:rPr lang="en-IN" sz="1600" dirty="0"/>
              <a:t> (1 pulse per bit) and </a:t>
            </a:r>
            <a:r>
              <a:rPr lang="en-IN" dirty="0" err="1"/>
              <a:t>rx_tick</a:t>
            </a:r>
            <a:r>
              <a:rPr lang="en-IN" sz="1600" dirty="0"/>
              <a:t> (16 per bit)</a:t>
            </a:r>
            <a:endParaRPr lang="en-US" sz="1500" dirty="0"/>
          </a:p>
          <a:p>
            <a:pPr marL="177800" indent="-177800">
              <a:spcAft>
                <a:spcPts val="600"/>
              </a:spcAft>
              <a:buSzPct val="100000"/>
              <a:buChar char="•"/>
            </a:pPr>
            <a:r>
              <a:rPr lang="en-US" sz="1500" b="1" dirty="0">
                <a:solidFill>
                  <a:schemeClr val="tx1"/>
                </a:solidFill>
              </a:rPr>
              <a:t>Full duplex: </a:t>
            </a:r>
            <a:r>
              <a:rPr lang="en-IN" sz="1600" b="1" dirty="0"/>
              <a:t>Parameters</a:t>
            </a:r>
            <a:r>
              <a:rPr lang="en-IN" sz="1600" dirty="0"/>
              <a:t> </a:t>
            </a:r>
            <a:r>
              <a:rPr lang="en-IN" dirty="0"/>
              <a:t>CLK_FREQ</a:t>
            </a:r>
            <a:r>
              <a:rPr lang="en-IN" sz="1600" dirty="0"/>
              <a:t>, </a:t>
            </a:r>
            <a:r>
              <a:rPr lang="en-IN" dirty="0"/>
              <a:t>BAUD_RATE</a:t>
            </a:r>
            <a:r>
              <a:rPr lang="en-IN" sz="1600" dirty="0"/>
              <a:t> and </a:t>
            </a:r>
            <a:r>
              <a:rPr lang="en-IN" dirty="0"/>
              <a:t>OVERSAMPLE</a:t>
            </a:r>
            <a:r>
              <a:rPr lang="en-IN" sz="1600" dirty="0"/>
              <a:t> are passed down to </a:t>
            </a:r>
            <a:r>
              <a:rPr lang="en-IN" dirty="0" err="1"/>
              <a:t>baudrate</a:t>
            </a:r>
            <a:endParaRPr lang="en-US" sz="1500" dirty="0"/>
          </a:p>
          <a:p>
            <a:pPr marL="177800" indent="-177800">
              <a:spcAft>
                <a:spcPts val="600"/>
              </a:spcAft>
              <a:buSzPct val="100000"/>
              <a:buChar char="•"/>
            </a:pPr>
            <a:r>
              <a:rPr lang="en-US" sz="1500" b="1" dirty="0">
                <a:solidFill>
                  <a:schemeClr val="tx1"/>
                </a:solidFill>
              </a:rPr>
              <a:t>Loopback: </a:t>
            </a:r>
            <a:r>
              <a:rPr lang="en-IN" sz="1600" dirty="0"/>
              <a:t>TX and RX share only </a:t>
            </a:r>
            <a:r>
              <a:rPr lang="en-IN" dirty="0"/>
              <a:t>clk</a:t>
            </a:r>
            <a:r>
              <a:rPr lang="en-IN" sz="1600" dirty="0"/>
              <a:t>, </a:t>
            </a:r>
            <a:r>
              <a:rPr lang="en-IN" dirty="0" err="1"/>
              <a:t>rst_n</a:t>
            </a:r>
            <a:r>
              <a:rPr lang="en-IN" sz="1600" dirty="0"/>
              <a:t>, the tick source and </a:t>
            </a:r>
            <a:r>
              <a:rPr lang="en-IN" dirty="0" err="1"/>
              <a:t>par_en</a:t>
            </a:r>
            <a:r>
              <a:rPr lang="en-IN" sz="1600" dirty="0"/>
              <a:t> / </a:t>
            </a:r>
            <a:r>
              <a:rPr lang="en-IN" dirty="0" err="1"/>
              <a:t>par_odd</a:t>
            </a:r>
            <a:endParaRPr lang="en-US" sz="1500" dirty="0"/>
          </a:p>
          <a:p>
            <a:pPr marL="177800" indent="-177800">
              <a:spcAft>
                <a:spcPts val="600"/>
              </a:spcAft>
              <a:buSzPct val="100000"/>
              <a:buChar char="•"/>
            </a:pPr>
            <a:r>
              <a:rPr lang="en-US" sz="1500" b="1" dirty="0">
                <a:solidFill>
                  <a:schemeClr val="tx1"/>
                </a:solidFill>
              </a:rPr>
              <a:t>Break: </a:t>
            </a:r>
            <a:r>
              <a:rPr lang="en-IN" sz="1600" b="1" dirty="0"/>
              <a:t>Direct pins:</a:t>
            </a:r>
            <a:r>
              <a:rPr lang="en-IN" sz="1600" dirty="0"/>
              <a:t> </a:t>
            </a:r>
            <a:r>
              <a:rPr lang="en-IN" dirty="0" err="1"/>
              <a:t>txd</a:t>
            </a:r>
            <a:r>
              <a:rPr lang="en-IN" sz="1600" dirty="0"/>
              <a:t> comes straight from </a:t>
            </a:r>
            <a:r>
              <a:rPr lang="en-IN" dirty="0" err="1"/>
              <a:t>uart_tx</a:t>
            </a:r>
            <a:r>
              <a:rPr lang="en-IN" sz="1600" dirty="0"/>
              <a:t>; </a:t>
            </a:r>
            <a:r>
              <a:rPr lang="en-IN" dirty="0" err="1"/>
              <a:t>rxd</a:t>
            </a:r>
            <a:r>
              <a:rPr lang="en-IN" sz="1600" dirty="0"/>
              <a:t> goes straight into </a:t>
            </a:r>
            <a:r>
              <a:rPr lang="en-IN" dirty="0" err="1"/>
              <a:t>uart_rx</a:t>
            </a:r>
            <a:endParaRPr lang="en-IN" dirty="0"/>
          </a:p>
          <a:p>
            <a:pPr marL="177800" indent="-177800">
              <a:spcAft>
                <a:spcPts val="600"/>
              </a:spcAft>
              <a:buSzPct val="100000"/>
              <a:buChar char="•"/>
            </a:pPr>
            <a:r>
              <a:rPr lang="en-US" sz="1500" b="1" dirty="0">
                <a:solidFill>
                  <a:schemeClr val="tx1"/>
                </a:solidFill>
              </a:rPr>
              <a:t>Sticky errors: </a:t>
            </a:r>
            <a:r>
              <a:rPr lang="en-IN" sz="1600" b="1" dirty="0"/>
              <a:t>Loopback</a:t>
            </a:r>
            <a:r>
              <a:rPr lang="en-IN" sz="1600" dirty="0"/>
              <a:t> is done in the testbench (</a:t>
            </a:r>
            <a:r>
              <a:rPr lang="en-IN" dirty="0"/>
              <a:t>assign </a:t>
            </a:r>
            <a:r>
              <a:rPr lang="en-IN" dirty="0" err="1"/>
              <a:t>rxd</a:t>
            </a:r>
            <a:r>
              <a:rPr lang="en-IN" dirty="0"/>
              <a:t> = </a:t>
            </a:r>
            <a:r>
              <a:rPr lang="en-IN" dirty="0" err="1"/>
              <a:t>txd</a:t>
            </a:r>
            <a:r>
              <a:rPr lang="en-IN" sz="1600" dirty="0"/>
              <a:t>), outside </a:t>
            </a:r>
            <a:r>
              <a:rPr lang="en-IN" dirty="0" err="1"/>
              <a:t>uart_top</a:t>
            </a:r>
            <a:endParaRPr lang="en-US" sz="1500" dirty="0"/>
          </a:p>
          <a:p>
            <a:pPr marL="177800" indent="-177800">
              <a:spcAft>
                <a:spcPts val="600"/>
              </a:spcAft>
              <a:buSzPct val="100000"/>
              <a:buChar char="•"/>
            </a:pPr>
            <a:r>
              <a:rPr lang="en-US" sz="1500" b="1" dirty="0">
                <a:solidFill>
                  <a:schemeClr val="tx1"/>
                </a:solidFill>
              </a:rPr>
              <a:t>Overrun </a:t>
            </a:r>
            <a:r>
              <a:rPr lang="en-IN" sz="1600" b="1" dirty="0"/>
              <a:t>Error flags:</a:t>
            </a:r>
            <a:r>
              <a:rPr lang="en-IN" sz="1600" dirty="0"/>
              <a:t> </a:t>
            </a:r>
            <a:r>
              <a:rPr lang="en-IN" dirty="0" err="1"/>
              <a:t>par_err</a:t>
            </a:r>
            <a:r>
              <a:rPr lang="en-IN" sz="1600" dirty="0"/>
              <a:t>, </a:t>
            </a:r>
            <a:r>
              <a:rPr lang="en-IN" dirty="0" err="1"/>
              <a:t>frm_err</a:t>
            </a:r>
            <a:r>
              <a:rPr lang="en-IN" sz="1600" dirty="0"/>
              <a:t> and </a:t>
            </a:r>
            <a:r>
              <a:rPr lang="en-IN" dirty="0" err="1"/>
              <a:t>brk</a:t>
            </a:r>
            <a:r>
              <a:rPr lang="en-IN" sz="1600" dirty="0"/>
              <a:t> come straight from </a:t>
            </a:r>
            <a:r>
              <a:rPr lang="en-IN" dirty="0" err="1"/>
              <a:t>uart_rx</a:t>
            </a:r>
            <a:r>
              <a:rPr lang="en-IN" sz="1600" dirty="0"/>
              <a:t>, refreshed at each stop bit</a:t>
            </a:r>
            <a:endParaRPr lang="en-US" sz="1500" dirty="0"/>
          </a:p>
        </p:txBody>
      </p:sp>
      <p:sp>
        <p:nvSpPr>
          <p:cNvPr id="5" name="code background"/>
          <p:cNvSpPr/>
          <p:nvPr/>
        </p:nvSpPr>
        <p:spPr>
          <a:xfrm>
            <a:off x="5440680" y="1143000"/>
            <a:ext cx="6199632" cy="5120640"/>
          </a:xfrm>
          <a:prstGeom prst="rect">
            <a:avLst/>
          </a:prstGeom>
          <a:solidFill>
            <a:schemeClr val="accent5"/>
          </a:solidFill>
          <a:ln w="12700">
            <a:solidFill>
              <a:schemeClr val="accent5"/>
            </a:solidFill>
            <a:prstDash val="solid"/>
          </a:ln>
        </p:spPr>
        <p:txBody>
          <a:bodyPr/>
          <a:lstStyle/>
          <a:p>
            <a:endParaRPr lang="en-IN"/>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pic>
        <p:nvPicPr>
          <p:cNvPr id="7" name="Picture 6">
            <a:extLst>
              <a:ext uri="{FF2B5EF4-FFF2-40B4-BE49-F238E27FC236}">
                <a16:creationId xmlns:a16="http://schemas.microsoft.com/office/drawing/2014/main" id="{FAF18E89-4CAC-34A5-F525-285CB824D8E0}"/>
              </a:ext>
            </a:extLst>
          </p:cNvPr>
          <p:cNvPicPr>
            <a:picLocks noChangeAspect="1"/>
          </p:cNvPicPr>
          <p:nvPr/>
        </p:nvPicPr>
        <p:blipFill>
          <a:blip r:embed="rId3"/>
          <a:stretch>
            <a:fillRect/>
          </a:stretch>
        </p:blipFill>
        <p:spPr>
          <a:xfrm>
            <a:off x="5582412" y="1455003"/>
            <a:ext cx="6057900" cy="48086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Verification plan and test cases</a:t>
            </a:r>
            <a:endParaRPr lang="en-US" sz="3200" dirty="0"/>
          </a:p>
        </p:txBody>
      </p:sp>
      <p:sp>
        <p:nvSpPr>
          <p:cNvPr id="4" name="Text 1"/>
          <p:cNvSpPr txBox="1"/>
          <p:nvPr/>
        </p:nvSpPr>
        <p:spPr>
          <a:xfrm>
            <a:off x="548640" y="1188720"/>
            <a:ext cx="11064240" cy="640080"/>
          </a:xfrm>
          <a:prstGeom prst="rect">
            <a:avLst/>
          </a:prstGeom>
          <a:noFill/>
          <a:ln/>
        </p:spPr>
        <p:txBody>
          <a:bodyPr wrap="square" lIns="0" tIns="0" rIns="0" bIns="0" rtlCol="0" anchor="t"/>
          <a:lstStyle/>
          <a:p>
            <a:pPr>
              <a:spcAft>
                <a:spcPts val="400"/>
              </a:spcAft>
            </a:pPr>
            <a:r>
              <a:rPr lang="en-US" sz="1600" dirty="0">
                <a:solidFill>
                  <a:schemeClr val="tx2"/>
                </a:solidFill>
              </a:rPr>
              <a:t>Directed loopback testbench: sends bytes through </a:t>
            </a:r>
            <a:r>
              <a:rPr lang="en-US" sz="1600" dirty="0" err="1">
                <a:solidFill>
                  <a:schemeClr val="tx2"/>
                </a:solidFill>
              </a:rPr>
              <a:t>uart_top</a:t>
            </a:r>
            <a:r>
              <a:rPr lang="en-US" sz="1600" dirty="0">
                <a:solidFill>
                  <a:schemeClr val="tx2"/>
                </a:solidFill>
              </a:rPr>
              <a:t> and prints each received byte with its error flags.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556494066"/>
              </p:ext>
            </p:extLst>
          </p:nvPr>
        </p:nvGraphicFramePr>
        <p:xfrm>
          <a:off x="5074920" y="1920240"/>
          <a:ext cx="6565392" cy="4114800"/>
        </p:xfrm>
        <a:graphic>
          <a:graphicData uri="http://schemas.openxmlformats.org/drawingml/2006/table">
            <a:tbl>
              <a:tblPr/>
              <a:tblGrid>
                <a:gridCol w="6858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758952">
                  <a:extLst>
                    <a:ext uri="{9D8B030D-6E8A-4147-A177-3AD203B41FA5}">
                      <a16:colId xmlns:a16="http://schemas.microsoft.com/office/drawing/2014/main" val="20003"/>
                    </a:ext>
                  </a:extLst>
                </a:gridCol>
              </a:tblGrid>
              <a:tr h="411480">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Expected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tc>
                  <a:txBody>
                    <a:bodyPr/>
                    <a:lstStyle/>
                    <a:p>
                      <a:pPr marL="0" indent="0">
                        <a:buNone/>
                      </a:pPr>
                      <a:r>
                        <a:rPr lang="en-US" sz="1200" b="1" dirty="0">
                          <a:solidFill>
                            <a:schemeClr val="tx2"/>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TC1</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Loopback, send 0xA5, no parity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err="1">
                          <a:solidFill>
                            <a:schemeClr val="tx1"/>
                          </a:solidFill>
                          <a:latin typeface="Calibri" pitchFamily="34" charset="0"/>
                          <a:ea typeface="Calibri" pitchFamily="34" charset="-122"/>
                          <a:cs typeface="Calibri" pitchFamily="34" charset="-120"/>
                        </a:rPr>
                        <a:t>rx_data</a:t>
                      </a:r>
                      <a:r>
                        <a:rPr lang="en-US" sz="1300" dirty="0">
                          <a:solidFill>
                            <a:schemeClr val="tx1"/>
                          </a:solidFill>
                          <a:latin typeface="Calibri" pitchFamily="34" charset="0"/>
                          <a:ea typeface="Calibri" pitchFamily="34" charset="-122"/>
                          <a:cs typeface="Calibri" pitchFamily="34" charset="-120"/>
                        </a:rPr>
                        <a:t> = A5, no error flags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TC2</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Loopback, send 0x3C, no parity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pt-BR" sz="1300" dirty="0">
                          <a:solidFill>
                            <a:schemeClr val="tx1"/>
                          </a:solidFill>
                          <a:latin typeface="Calibri" pitchFamily="34" charset="0"/>
                          <a:ea typeface="Calibri" pitchFamily="34" charset="-122"/>
                          <a:cs typeface="Calibri" pitchFamily="34" charset="-120"/>
                        </a:rPr>
                        <a:t>rx_data = 3C, no error flags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TC3</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Sender 2% slow (0xA5)</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Correct, no errors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TC4</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Sender 2% fast (0x3C)</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Correct, no errors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TC5</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Wrong parity bit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PAR =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TC6</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Stop bit forced to 0</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FRM =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TC7</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Line low 14 bit times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0x00, BRK = 1, FRM =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7"/>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TC8</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0.3-bit glitch on RXD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Rejected, FIFO empty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8"/>
                  </a:ext>
                </a:extLst>
              </a:tr>
              <a:tr h="41148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TC9</a:t>
                      </a:r>
                      <a:endParaRPr lang="en-US" sz="130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17 frames, no reads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RXF = 1, OVR =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9525" cap="flat" cmpd="sng" algn="ctr">
                      <a:solidFill>
                        <a:srgbClr val="C9C5B9"/>
                      </a:solidFill>
                      <a:prstDash val="solid"/>
                      <a:round/>
                      <a:headEnd type="none" w="med" len="med"/>
                      <a:tailEnd type="none" w="med" len="med"/>
                    </a:lnT>
                    <a:lnB w="9525" cap="flat" cmpd="sng" algn="ctr">
                      <a:solidFill>
                        <a:srgbClr val="C9C5B9"/>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pic>
        <p:nvPicPr>
          <p:cNvPr id="6" name="Picture 5">
            <a:extLst>
              <a:ext uri="{FF2B5EF4-FFF2-40B4-BE49-F238E27FC236}">
                <a16:creationId xmlns:a16="http://schemas.microsoft.com/office/drawing/2014/main" id="{2690CD79-FE8B-0EF0-1941-B6847E0B881F}"/>
              </a:ext>
            </a:extLst>
          </p:cNvPr>
          <p:cNvPicPr>
            <a:picLocks noChangeAspect="1"/>
          </p:cNvPicPr>
          <p:nvPr/>
        </p:nvPicPr>
        <p:blipFill>
          <a:blip r:embed="rId3"/>
          <a:stretch>
            <a:fillRect/>
          </a:stretch>
        </p:blipFill>
        <p:spPr>
          <a:xfrm>
            <a:off x="281941" y="2125862"/>
            <a:ext cx="4593062" cy="34595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Testbench code (tb_uart.v)</a:t>
            </a:r>
            <a:endParaRPr lang="en-US" sz="3200" dirty="0"/>
          </a:p>
        </p:txBody>
      </p:sp>
      <p:sp>
        <p:nvSpPr>
          <p:cNvPr id="4" name="Text 1"/>
          <p:cNvSpPr txBox="1"/>
          <p:nvPr/>
        </p:nvSpPr>
        <p:spPr>
          <a:xfrm>
            <a:off x="548640" y="1325880"/>
            <a:ext cx="4480560" cy="3657600"/>
          </a:xfrm>
          <a:prstGeom prst="rect">
            <a:avLst/>
          </a:prstGeom>
          <a:noFill/>
          <a:ln/>
        </p:spPr>
        <p:txBody>
          <a:bodyPr wrap="square" lIns="0" tIns="0" rIns="0" bIns="0" rtlCol="0" anchor="t"/>
          <a:lstStyle/>
          <a:p>
            <a:pPr marL="177800" indent="-177800">
              <a:spcAft>
                <a:spcPts val="600"/>
              </a:spcAft>
              <a:buSzPct val="100000"/>
              <a:buChar char="•"/>
            </a:pPr>
            <a:r>
              <a:rPr lang="en-US" sz="1500" b="1" dirty="0"/>
              <a:t>Clock: #10 toggle gives 50 MHz (period = 20 ns).</a:t>
            </a:r>
          </a:p>
          <a:p>
            <a:pPr marL="177800" indent="-177800">
              <a:spcAft>
                <a:spcPts val="600"/>
              </a:spcAft>
              <a:buSzPct val="100000"/>
              <a:buChar char="•"/>
            </a:pPr>
            <a:r>
              <a:rPr lang="en-US" sz="1500" b="1" dirty="0"/>
              <a:t>Reset: </a:t>
            </a:r>
            <a:r>
              <a:rPr lang="en-US" sz="1500" b="1" dirty="0" err="1"/>
              <a:t>rst_n</a:t>
            </a:r>
            <a:r>
              <a:rPr lang="en-US" sz="1500" b="1" dirty="0"/>
              <a:t> is held low for 100 ns, then released.</a:t>
            </a:r>
          </a:p>
          <a:p>
            <a:pPr marL="177800" indent="-177800">
              <a:spcAft>
                <a:spcPts val="600"/>
              </a:spcAft>
              <a:buSzPct val="100000"/>
              <a:buChar char="•"/>
            </a:pPr>
            <a:r>
              <a:rPr lang="en-US" sz="1500" b="1" dirty="0"/>
              <a:t>Loopback: TXD is directly connected to RXD(assign </a:t>
            </a:r>
            <a:r>
              <a:rPr lang="en-US" sz="1500" b="1" dirty="0" err="1"/>
              <a:t>rxd</a:t>
            </a:r>
            <a:r>
              <a:rPr lang="en-US" sz="1500" b="1" dirty="0"/>
              <a:t> = </a:t>
            </a:r>
            <a:r>
              <a:rPr lang="en-US" sz="1500" b="1" dirty="0" err="1"/>
              <a:t>txd</a:t>
            </a:r>
            <a:r>
              <a:rPr lang="en-US" sz="1500" b="1" dirty="0"/>
              <a:t>).</a:t>
            </a:r>
          </a:p>
          <a:p>
            <a:pPr marL="177800" indent="-177800">
              <a:spcAft>
                <a:spcPts val="600"/>
              </a:spcAft>
              <a:buSzPct val="100000"/>
              <a:buChar char="•"/>
            </a:pPr>
            <a:r>
              <a:rPr lang="en-US" sz="1500" b="1" dirty="0"/>
              <a:t>Test 1: Transmit 8'hA5 with a 20 ns </a:t>
            </a:r>
            <a:r>
              <a:rPr lang="en-US" sz="1500" b="1" dirty="0" err="1"/>
              <a:t>tx_start</a:t>
            </a:r>
            <a:r>
              <a:rPr lang="en-US" sz="1500" b="1" dirty="0"/>
              <a:t> </a:t>
            </a:r>
            <a:r>
              <a:rPr lang="en-US" sz="1500" b="1" dirty="0" err="1"/>
              <a:t>pulse.Waits</a:t>
            </a:r>
            <a:r>
              <a:rPr lang="en-US" sz="1500" b="1" dirty="0"/>
              <a:t> for </a:t>
            </a:r>
            <a:r>
              <a:rPr lang="en-US" sz="1500" b="1" dirty="0" err="1"/>
              <a:t>tx_busy</a:t>
            </a:r>
            <a:r>
              <a:rPr lang="en-US" sz="1500" b="1" dirty="0"/>
              <a:t> to go high then low, and for </a:t>
            </a:r>
            <a:r>
              <a:rPr lang="en-US" sz="1500" b="1" dirty="0" err="1"/>
              <a:t>rx_valid</a:t>
            </a:r>
            <a:r>
              <a:rPr lang="en-US" sz="1500" b="1" dirty="0"/>
              <a:t>.</a:t>
            </a:r>
          </a:p>
          <a:p>
            <a:pPr marL="177800" indent="-177800">
              <a:spcAft>
                <a:spcPts val="600"/>
              </a:spcAft>
              <a:buSzPct val="100000"/>
              <a:buChar char="•"/>
            </a:pPr>
            <a:r>
              <a:rPr lang="en-US" sz="1500" b="1" dirty="0"/>
              <a:t>Test 2: Transmit 8'h3C with the same procedure.</a:t>
            </a:r>
          </a:p>
          <a:p>
            <a:pPr marL="177800" indent="-177800">
              <a:spcAft>
                <a:spcPts val="600"/>
              </a:spcAft>
              <a:buSzPct val="100000"/>
              <a:buChar char="•"/>
            </a:pPr>
            <a:r>
              <a:rPr lang="fr-FR" sz="1500" dirty="0" err="1"/>
              <a:t>Parity</a:t>
            </a:r>
            <a:r>
              <a:rPr lang="fr-FR" sz="1500" dirty="0"/>
              <a:t>: </a:t>
            </a:r>
            <a:r>
              <a:rPr lang="fr-FR" sz="1500" dirty="0" err="1"/>
              <a:t>Disabled</a:t>
            </a:r>
            <a:r>
              <a:rPr lang="fr-FR" sz="1500" dirty="0"/>
              <a:t> (</a:t>
            </a:r>
            <a:r>
              <a:rPr lang="fr-FR" sz="1500" dirty="0" err="1"/>
              <a:t>par_en</a:t>
            </a:r>
            <a:r>
              <a:rPr lang="fr-FR" sz="1500" dirty="0"/>
              <a:t> = 0, </a:t>
            </a:r>
            <a:r>
              <a:rPr lang="fr-FR" sz="1500" dirty="0" err="1"/>
              <a:t>par_odd</a:t>
            </a:r>
            <a:r>
              <a:rPr lang="fr-FR" sz="1500" dirty="0"/>
              <a:t> = 0).</a:t>
            </a:r>
          </a:p>
          <a:p>
            <a:pPr marL="177800" indent="-177800">
              <a:spcAft>
                <a:spcPts val="600"/>
              </a:spcAft>
              <a:buSzPct val="100000"/>
              <a:buChar char="•"/>
            </a:pPr>
            <a:r>
              <a:rPr lang="en-US" sz="1500" dirty="0"/>
              <a:t>Monitor: On </a:t>
            </a:r>
            <a:r>
              <a:rPr lang="en-US" sz="1500" dirty="0" err="1"/>
              <a:t>rx_valid</a:t>
            </a:r>
            <a:r>
              <a:rPr lang="en-US" sz="1500" dirty="0"/>
              <a:t>, prints received byte and </a:t>
            </a:r>
            <a:r>
              <a:rPr lang="en-US" sz="1500" dirty="0" err="1"/>
              <a:t>statussignals</a:t>
            </a:r>
            <a:r>
              <a:rPr lang="en-US" sz="1500" dirty="0"/>
              <a:t> (</a:t>
            </a:r>
            <a:r>
              <a:rPr lang="en-US" sz="1500" dirty="0" err="1"/>
              <a:t>par_err</a:t>
            </a:r>
            <a:r>
              <a:rPr lang="en-US" sz="1500" dirty="0"/>
              <a:t>, </a:t>
            </a:r>
            <a:r>
              <a:rPr lang="en-US" sz="1500" dirty="0" err="1"/>
              <a:t>frm_err</a:t>
            </a:r>
            <a:r>
              <a:rPr lang="en-US" sz="1500" dirty="0"/>
              <a:t>, </a:t>
            </a:r>
            <a:r>
              <a:rPr lang="en-US" sz="1500" dirty="0" err="1"/>
              <a:t>brk</a:t>
            </a:r>
            <a:r>
              <a:rPr lang="en-US" sz="1500" dirty="0"/>
              <a:t>).</a:t>
            </a:r>
          </a:p>
        </p:txBody>
      </p:sp>
      <p:sp>
        <p:nvSpPr>
          <p:cNvPr id="5" name="Shape 2"/>
          <p:cNvSpPr/>
          <p:nvPr/>
        </p:nvSpPr>
        <p:spPr>
          <a:xfrm>
            <a:off x="548640" y="5120640"/>
            <a:ext cx="4480560" cy="1005840"/>
          </a:xfrm>
          <a:prstGeom prst="rect">
            <a:avLst/>
          </a:prstGeom>
          <a:solidFill>
            <a:schemeClr val="accent5"/>
          </a:solidFill>
          <a:ln w="12700">
            <a:solidFill>
              <a:schemeClr val="accent5"/>
            </a:solidFill>
            <a:prstDash val="solid"/>
          </a:ln>
        </p:spPr>
        <p:txBody>
          <a:bodyPr/>
          <a:lstStyle/>
          <a:p>
            <a:endParaRPr lang="en-IN"/>
          </a:p>
        </p:txBody>
      </p:sp>
      <p:sp>
        <p:nvSpPr>
          <p:cNvPr id="6" name="Text 3"/>
          <p:cNvSpPr txBox="1"/>
          <p:nvPr/>
        </p:nvSpPr>
        <p:spPr>
          <a:xfrm>
            <a:off x="685800" y="5193792"/>
            <a:ext cx="4206240" cy="868680"/>
          </a:xfrm>
          <a:prstGeom prst="rect">
            <a:avLst/>
          </a:prstGeom>
          <a:noFill/>
          <a:ln/>
        </p:spPr>
        <p:txBody>
          <a:bodyPr wrap="square" lIns="0" tIns="0" rIns="0" bIns="0" rtlCol="0" anchor="t"/>
          <a:lstStyle/>
          <a:p>
            <a:pPr>
              <a:spcAft>
                <a:spcPts val="400"/>
              </a:spcAft>
            </a:pPr>
            <a:r>
              <a:rPr lang="en-US" sz="1300" b="1" dirty="0">
                <a:latin typeface="Calibri" pitchFamily="34" charset="0"/>
                <a:ea typeface="Calibri" pitchFamily="34" charset="-122"/>
                <a:cs typeface="Calibri" pitchFamily="34" charset="-120"/>
              </a:rPr>
              <a:t>Run</a:t>
            </a:r>
          </a:p>
          <a:p>
            <a:pPr>
              <a:spcAft>
                <a:spcPts val="400"/>
              </a:spcAft>
            </a:pPr>
            <a:r>
              <a:rPr lang="en-US" sz="1300" b="1" dirty="0">
                <a:latin typeface="Calibri" pitchFamily="34" charset="0"/>
                <a:ea typeface="Calibri" pitchFamily="34" charset="-122"/>
                <a:cs typeface="Calibri" pitchFamily="34" charset="-120"/>
              </a:rPr>
              <a:t>   </a:t>
            </a:r>
            <a:r>
              <a:rPr lang="en-US" sz="1300" b="1" dirty="0" err="1">
                <a:latin typeface="Calibri" pitchFamily="34" charset="0"/>
                <a:ea typeface="Calibri" pitchFamily="34" charset="-122"/>
                <a:cs typeface="Calibri" pitchFamily="34" charset="-120"/>
              </a:rPr>
              <a:t>iverilog</a:t>
            </a:r>
            <a:r>
              <a:rPr lang="en-US" sz="1300" b="1" dirty="0">
                <a:latin typeface="Calibri" pitchFamily="34" charset="0"/>
                <a:ea typeface="Calibri" pitchFamily="34" charset="-122"/>
                <a:cs typeface="Calibri" pitchFamily="34" charset="-120"/>
              </a:rPr>
              <a:t> -g2005 -o sim </a:t>
            </a:r>
            <a:r>
              <a:rPr lang="en-US" sz="1300" b="1" dirty="0" err="1">
                <a:latin typeface="Calibri" pitchFamily="34" charset="0"/>
                <a:ea typeface="Calibri" pitchFamily="34" charset="-122"/>
                <a:cs typeface="Calibri" pitchFamily="34" charset="-120"/>
              </a:rPr>
              <a:t>uart_top_tb.v</a:t>
            </a:r>
            <a:r>
              <a:rPr lang="en-US" sz="1300" b="1" dirty="0">
                <a:latin typeface="Calibri" pitchFamily="34" charset="0"/>
                <a:ea typeface="Calibri" pitchFamily="34" charset="-122"/>
                <a:cs typeface="Calibri" pitchFamily="34" charset="-120"/>
              </a:rPr>
              <a:t> </a:t>
            </a:r>
            <a:r>
              <a:rPr lang="en-US" sz="1300" b="1" dirty="0" err="1">
                <a:latin typeface="Calibri" pitchFamily="34" charset="0"/>
                <a:ea typeface="Calibri" pitchFamily="34" charset="-122"/>
                <a:cs typeface="Calibri" pitchFamily="34" charset="-120"/>
              </a:rPr>
              <a:t>uart_top.vbaudrate.v</a:t>
            </a:r>
            <a:r>
              <a:rPr lang="en-US" sz="1300" b="1" dirty="0">
                <a:latin typeface="Calibri" pitchFamily="34" charset="0"/>
                <a:ea typeface="Calibri" pitchFamily="34" charset="-122"/>
                <a:cs typeface="Calibri" pitchFamily="34" charset="-120"/>
              </a:rPr>
              <a:t> </a:t>
            </a:r>
            <a:r>
              <a:rPr lang="en-US" sz="1300" b="1" dirty="0" err="1">
                <a:latin typeface="Calibri" pitchFamily="34" charset="0"/>
                <a:ea typeface="Calibri" pitchFamily="34" charset="-122"/>
                <a:cs typeface="Calibri" pitchFamily="34" charset="-120"/>
              </a:rPr>
              <a:t>uart_tx.v</a:t>
            </a:r>
            <a:r>
              <a:rPr lang="en-US" sz="1300" b="1" dirty="0">
                <a:latin typeface="Calibri" pitchFamily="34" charset="0"/>
                <a:ea typeface="Calibri" pitchFamily="34" charset="-122"/>
                <a:cs typeface="Calibri" pitchFamily="34" charset="-120"/>
              </a:rPr>
              <a:t> </a:t>
            </a:r>
            <a:r>
              <a:rPr lang="en-US" sz="1300" b="1" dirty="0" err="1">
                <a:latin typeface="Calibri" pitchFamily="34" charset="0"/>
                <a:ea typeface="Calibri" pitchFamily="34" charset="-122"/>
                <a:cs typeface="Calibri" pitchFamily="34" charset="-120"/>
              </a:rPr>
              <a:t>uart_rx.vvvp</a:t>
            </a:r>
            <a:r>
              <a:rPr lang="en-US" sz="1300" b="1" dirty="0">
                <a:latin typeface="Calibri" pitchFamily="34" charset="0"/>
                <a:ea typeface="Calibri" pitchFamily="34" charset="-122"/>
                <a:cs typeface="Calibri" pitchFamily="34" charset="-120"/>
              </a:rPr>
              <a:t> sim</a:t>
            </a:r>
            <a:endParaRPr lang="en-US" sz="1050" dirty="0"/>
          </a:p>
        </p:txBody>
      </p:sp>
      <p:sp>
        <p:nvSpPr>
          <p:cNvPr id="8" name="Verilog code"/>
          <p:cNvSpPr txBox="1"/>
          <p:nvPr/>
        </p:nvSpPr>
        <p:spPr>
          <a:xfrm>
            <a:off x="5532120" y="1280160"/>
            <a:ext cx="6016752" cy="4846320"/>
          </a:xfrm>
          <a:prstGeom prst="rect">
            <a:avLst/>
          </a:prstGeom>
          <a:noFill/>
          <a:ln/>
        </p:spPr>
        <p:txBody>
          <a:bodyPr wrap="square" lIns="0" tIns="0" rIns="0" bIns="0" rtlCol="0" anchor="t"/>
          <a:lstStyle/>
          <a:p>
            <a:pPr marL="0" indent="0">
              <a:lnSpc>
                <a:spcPct val="100000"/>
              </a:lnSpc>
              <a:buNone/>
            </a:pP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pic>
        <p:nvPicPr>
          <p:cNvPr id="9" name="Picture 8">
            <a:extLst>
              <a:ext uri="{FF2B5EF4-FFF2-40B4-BE49-F238E27FC236}">
                <a16:creationId xmlns:a16="http://schemas.microsoft.com/office/drawing/2014/main" id="{AF7636AA-CF4D-E107-8D94-B2FF13DB68CA}"/>
              </a:ext>
            </a:extLst>
          </p:cNvPr>
          <p:cNvPicPr>
            <a:picLocks noChangeAspect="1"/>
          </p:cNvPicPr>
          <p:nvPr/>
        </p:nvPicPr>
        <p:blipFill>
          <a:blip r:embed="rId3"/>
          <a:stretch>
            <a:fillRect/>
          </a:stretch>
        </p:blipFill>
        <p:spPr>
          <a:xfrm>
            <a:off x="5598679" y="1051561"/>
            <a:ext cx="6258041" cy="53416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Simulation results</a:t>
            </a:r>
            <a:endParaRPr lang="en-US" sz="3200" dirty="0"/>
          </a:p>
        </p:txBody>
      </p:sp>
      <p:sp>
        <p:nvSpPr>
          <p:cNvPr id="4" name="Text 1"/>
          <p:cNvSpPr txBox="1"/>
          <p:nvPr/>
        </p:nvSpPr>
        <p:spPr>
          <a:xfrm>
            <a:off x="548640" y="1097280"/>
            <a:ext cx="11064240" cy="365760"/>
          </a:xfrm>
          <a:prstGeom prst="rect">
            <a:avLst/>
          </a:prstGeom>
          <a:noFill/>
          <a:ln/>
        </p:spPr>
        <p:txBody>
          <a:bodyPr wrap="square" lIns="0" tIns="0" rIns="0" bIns="0" rtlCol="0" anchor="t"/>
          <a:lstStyle/>
          <a:p>
            <a:pPr marL="0" indent="0">
              <a:spcAft>
                <a:spcPts val="400"/>
              </a:spcAft>
              <a:buNone/>
            </a:pPr>
            <a:r>
              <a:rPr lang="en-US" sz="1500" dirty="0"/>
              <a:t>Serial output’s , for verification of </a:t>
            </a:r>
            <a:r>
              <a:rPr lang="en-US" sz="1500" dirty="0" err="1"/>
              <a:t>uart</a:t>
            </a:r>
            <a:r>
              <a:rPr lang="en-US" sz="1500" dirty="0"/>
              <a:t> working </a:t>
            </a:r>
          </a:p>
        </p:txBody>
      </p:sp>
      <p:sp>
        <p:nvSpPr>
          <p:cNvPr id="6" name="Text 2"/>
          <p:cNvSpPr txBox="1"/>
          <p:nvPr/>
        </p:nvSpPr>
        <p:spPr>
          <a:xfrm>
            <a:off x="548640" y="3840480"/>
            <a:ext cx="6035040" cy="274320"/>
          </a:xfrm>
          <a:prstGeom prst="rect">
            <a:avLst/>
          </a:prstGeom>
          <a:noFill/>
          <a:ln/>
        </p:spPr>
        <p:txBody>
          <a:bodyPr wrap="square" lIns="0" tIns="0" rIns="0" bIns="0" rtlCol="0" anchor="t"/>
          <a:lstStyle/>
          <a:p>
            <a:pPr marL="0" indent="0">
              <a:spcAft>
                <a:spcPts val="400"/>
              </a:spcAft>
              <a:buNone/>
            </a:pPr>
            <a:endParaRPr lang="en-US" sz="1200" dirty="0"/>
          </a:p>
        </p:txBody>
      </p:sp>
      <p:sp>
        <p:nvSpPr>
          <p:cNvPr id="9" name="Text 5"/>
          <p:cNvSpPr txBox="1"/>
          <p:nvPr/>
        </p:nvSpPr>
        <p:spPr>
          <a:xfrm>
            <a:off x="6858000" y="3840480"/>
            <a:ext cx="4782312" cy="2377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TXD falls at 0.25 µs; each bit lasts 8.64 µs (27 × 16 × 20 ns)</a:t>
            </a:r>
            <a:endParaRPr lang="en-US" sz="1400" dirty="0"/>
          </a:p>
          <a:p>
            <a:pPr marL="177800" indent="-177800">
              <a:spcAft>
                <a:spcPts val="600"/>
              </a:spcAft>
              <a:buSzPct val="100000"/>
              <a:buChar char="•"/>
            </a:pPr>
            <a:r>
              <a:rPr lang="en-US" sz="1400" dirty="0">
                <a:solidFill>
                  <a:schemeClr val="tx1"/>
                </a:solidFill>
              </a:rPr>
              <a:t>RX enters DATA at 4.43 µs, half a bit after the edge</a:t>
            </a:r>
            <a:endParaRPr lang="en-US" sz="1400" dirty="0"/>
          </a:p>
          <a:p>
            <a:pPr marL="177800" indent="-177800">
              <a:spcAft>
                <a:spcPts val="600"/>
              </a:spcAft>
              <a:buSzPct val="100000"/>
              <a:buChar char="•"/>
            </a:pPr>
            <a:r>
              <a:rPr lang="en-US" sz="1400" dirty="0">
                <a:solidFill>
                  <a:schemeClr val="tx1"/>
                </a:solidFill>
              </a:rPr>
              <a:t>rx_valid pulses at 90.83 µs with rx_data = 4B</a:t>
            </a:r>
            <a:endParaRPr lang="en-US" sz="1400" dirty="0"/>
          </a:p>
          <a:p>
            <a:pPr marL="177800" indent="-177800">
              <a:spcAft>
                <a:spcPts val="600"/>
              </a:spcAft>
              <a:buSzPct val="100000"/>
              <a:buChar char="•"/>
            </a:pPr>
            <a:r>
              <a:rPr lang="en-US" sz="1400" dirty="0">
                <a:solidFill>
                  <a:schemeClr val="tx1"/>
                </a:solidFill>
              </a:rPr>
              <a:t>irq rises 20 ns later, one clock after the FIFO write</a:t>
            </a:r>
            <a:endParaRPr lang="en-US" sz="1400" dirty="0"/>
          </a:p>
          <a:p>
            <a:pPr marL="177800" indent="-177800">
              <a:spcAft>
                <a:spcPts val="600"/>
              </a:spcAft>
              <a:buSzPct val="100000"/>
              <a:buChar char="•"/>
            </a:pPr>
            <a:r>
              <a:rPr lang="en-US" sz="1400" dirty="0">
                <a:solidFill>
                  <a:schemeClr val="tx1"/>
                </a:solidFill>
              </a:rPr>
              <a:t>Status values show exactly the expected flags per test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pic>
        <p:nvPicPr>
          <p:cNvPr id="10" name="Picture 9">
            <a:extLst>
              <a:ext uri="{FF2B5EF4-FFF2-40B4-BE49-F238E27FC236}">
                <a16:creationId xmlns:a16="http://schemas.microsoft.com/office/drawing/2014/main" id="{82288594-B7AD-FE92-6359-2D1F8D96490B}"/>
              </a:ext>
            </a:extLst>
          </p:cNvPr>
          <p:cNvPicPr>
            <a:picLocks noChangeAspect="1"/>
          </p:cNvPicPr>
          <p:nvPr/>
        </p:nvPicPr>
        <p:blipFill>
          <a:blip r:embed="rId3"/>
          <a:stretch>
            <a:fillRect/>
          </a:stretch>
        </p:blipFill>
        <p:spPr>
          <a:xfrm>
            <a:off x="548640" y="1432792"/>
            <a:ext cx="11346180" cy="47851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73E0-03A5-6997-DC74-7AD98BC05E0E}"/>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D21198C8-DF53-388F-5842-E21818157BAD}"/>
              </a:ext>
            </a:extLst>
          </p:cNvPr>
          <p:cNvSpPr>
            <a:spLocks noGrp="1"/>
          </p:cNvSpPr>
          <p:nvPr>
            <p:ph type="title" idx="101" hasCustomPrompt="1"/>
          </p:nvPr>
        </p:nvSpPr>
        <p:spPr>
          <a:xfrm>
            <a:off x="548640" y="320040"/>
            <a:ext cx="11091672" cy="731520"/>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Simulation results</a:t>
            </a:r>
            <a:endParaRPr lang="en-US" sz="3200" dirty="0"/>
          </a:p>
        </p:txBody>
      </p:sp>
      <p:sp>
        <p:nvSpPr>
          <p:cNvPr id="4" name="Text 1">
            <a:extLst>
              <a:ext uri="{FF2B5EF4-FFF2-40B4-BE49-F238E27FC236}">
                <a16:creationId xmlns:a16="http://schemas.microsoft.com/office/drawing/2014/main" id="{96162CE6-3AB9-E891-F69F-FC67D3DF3D26}"/>
              </a:ext>
            </a:extLst>
          </p:cNvPr>
          <p:cNvSpPr txBox="1"/>
          <p:nvPr/>
        </p:nvSpPr>
        <p:spPr>
          <a:xfrm>
            <a:off x="548640" y="1097280"/>
            <a:ext cx="11064240" cy="365760"/>
          </a:xfrm>
          <a:prstGeom prst="rect">
            <a:avLst/>
          </a:prstGeom>
          <a:noFill/>
          <a:ln/>
        </p:spPr>
        <p:txBody>
          <a:bodyPr wrap="square" lIns="0" tIns="0" rIns="0" bIns="0" rtlCol="0" anchor="t"/>
          <a:lstStyle/>
          <a:p>
            <a:pPr marL="0" indent="0">
              <a:spcAft>
                <a:spcPts val="400"/>
              </a:spcAft>
              <a:buNone/>
            </a:pPr>
            <a:r>
              <a:rPr lang="en-IN" sz="1500" dirty="0"/>
              <a:t>Parallel</a:t>
            </a:r>
            <a:r>
              <a:rPr lang="en-US" sz="1500" dirty="0"/>
              <a:t> output’s</a:t>
            </a:r>
          </a:p>
        </p:txBody>
      </p:sp>
      <p:sp>
        <p:nvSpPr>
          <p:cNvPr id="6" name="Text 2">
            <a:extLst>
              <a:ext uri="{FF2B5EF4-FFF2-40B4-BE49-F238E27FC236}">
                <a16:creationId xmlns:a16="http://schemas.microsoft.com/office/drawing/2014/main" id="{C6659DAC-6AD1-6DE8-58C9-445784078CD9}"/>
              </a:ext>
            </a:extLst>
          </p:cNvPr>
          <p:cNvSpPr txBox="1"/>
          <p:nvPr/>
        </p:nvSpPr>
        <p:spPr>
          <a:xfrm>
            <a:off x="548640" y="3840480"/>
            <a:ext cx="6035040" cy="274320"/>
          </a:xfrm>
          <a:prstGeom prst="rect">
            <a:avLst/>
          </a:prstGeom>
          <a:noFill/>
          <a:ln/>
        </p:spPr>
        <p:txBody>
          <a:bodyPr wrap="square" lIns="0" tIns="0" rIns="0" bIns="0" rtlCol="0" anchor="t"/>
          <a:lstStyle/>
          <a:p>
            <a:pPr marL="0" indent="0">
              <a:spcAft>
                <a:spcPts val="400"/>
              </a:spcAft>
              <a:buNone/>
            </a:pPr>
            <a:endParaRPr lang="en-US" sz="1200" dirty="0"/>
          </a:p>
        </p:txBody>
      </p:sp>
      <p:sp>
        <p:nvSpPr>
          <p:cNvPr id="9" name="Text 5">
            <a:extLst>
              <a:ext uri="{FF2B5EF4-FFF2-40B4-BE49-F238E27FC236}">
                <a16:creationId xmlns:a16="http://schemas.microsoft.com/office/drawing/2014/main" id="{1AC13754-232D-359A-D7CA-0EA81C686EB1}"/>
              </a:ext>
            </a:extLst>
          </p:cNvPr>
          <p:cNvSpPr txBox="1"/>
          <p:nvPr/>
        </p:nvSpPr>
        <p:spPr>
          <a:xfrm>
            <a:off x="6858000" y="3840480"/>
            <a:ext cx="4782312" cy="2377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TXD falls at 0.25 µs; each bit lasts 8.64 µs (27 × 16 × 20 ns)</a:t>
            </a:r>
            <a:endParaRPr lang="en-US" sz="1400" dirty="0"/>
          </a:p>
          <a:p>
            <a:pPr marL="177800" indent="-177800">
              <a:spcAft>
                <a:spcPts val="600"/>
              </a:spcAft>
              <a:buSzPct val="100000"/>
              <a:buChar char="•"/>
            </a:pPr>
            <a:r>
              <a:rPr lang="en-US" sz="1400" dirty="0">
                <a:solidFill>
                  <a:schemeClr val="tx1"/>
                </a:solidFill>
              </a:rPr>
              <a:t>RX enters DATA at 4.43 µs, half a bit after the edge</a:t>
            </a:r>
            <a:endParaRPr lang="en-US" sz="1400" dirty="0"/>
          </a:p>
          <a:p>
            <a:pPr marL="177800" indent="-177800">
              <a:spcAft>
                <a:spcPts val="600"/>
              </a:spcAft>
              <a:buSzPct val="100000"/>
              <a:buChar char="•"/>
            </a:pPr>
            <a:r>
              <a:rPr lang="en-US" sz="1400" dirty="0">
                <a:solidFill>
                  <a:schemeClr val="tx1"/>
                </a:solidFill>
              </a:rPr>
              <a:t>rx_valid pulses at 90.83 µs with rx_data = 4B</a:t>
            </a:r>
            <a:endParaRPr lang="en-US" sz="1400" dirty="0"/>
          </a:p>
          <a:p>
            <a:pPr marL="177800" indent="-177800">
              <a:spcAft>
                <a:spcPts val="600"/>
              </a:spcAft>
              <a:buSzPct val="100000"/>
              <a:buChar char="•"/>
            </a:pPr>
            <a:r>
              <a:rPr lang="en-US" sz="1400" dirty="0">
                <a:solidFill>
                  <a:schemeClr val="tx1"/>
                </a:solidFill>
              </a:rPr>
              <a:t>irq rises 20 ns later, one clock after the FIFO write</a:t>
            </a:r>
            <a:endParaRPr lang="en-US" sz="1400" dirty="0"/>
          </a:p>
          <a:p>
            <a:pPr marL="177800" indent="-177800">
              <a:spcAft>
                <a:spcPts val="600"/>
              </a:spcAft>
              <a:buSzPct val="100000"/>
              <a:buChar char="•"/>
            </a:pPr>
            <a:r>
              <a:rPr lang="en-US" sz="1400" dirty="0">
                <a:solidFill>
                  <a:schemeClr val="tx1"/>
                </a:solidFill>
              </a:rPr>
              <a:t>Status values show exactly the expected flags per test</a:t>
            </a:r>
            <a:endParaRPr lang="en-US" sz="1400" dirty="0"/>
          </a:p>
        </p:txBody>
      </p:sp>
      <p:sp>
        <p:nvSpPr>
          <p:cNvPr id="25" name="Slide Number Placeholder 0">
            <a:extLst>
              <a:ext uri="{FF2B5EF4-FFF2-40B4-BE49-F238E27FC236}">
                <a16:creationId xmlns:a16="http://schemas.microsoft.com/office/drawing/2014/main" id="{689F4469-2B44-1BB8-DD8B-4DD72CCD0C5F}"/>
              </a:ext>
            </a:extLst>
          </p:cNvPr>
          <p:cNvSpPr>
            <a:spLocks noGrp="1"/>
          </p:cNvSpPr>
          <p:nvPr>
            <p:ph type="sldNum" sz="quarter" idx="4294967295"/>
          </p:nvPr>
        </p:nvSpPr>
        <p:spPr>
          <a:xfrm>
            <a:off x="11155680" y="640080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19</a:t>
            </a:fld>
            <a:endParaRPr lang="en-US"/>
          </a:p>
        </p:txBody>
      </p:sp>
      <p:pic>
        <p:nvPicPr>
          <p:cNvPr id="5" name="Picture 4">
            <a:extLst>
              <a:ext uri="{FF2B5EF4-FFF2-40B4-BE49-F238E27FC236}">
                <a16:creationId xmlns:a16="http://schemas.microsoft.com/office/drawing/2014/main" id="{5010E9DA-0A11-61B2-CC81-8ADE96A5FA67}"/>
              </a:ext>
            </a:extLst>
          </p:cNvPr>
          <p:cNvPicPr>
            <a:picLocks noChangeAspect="1"/>
          </p:cNvPicPr>
          <p:nvPr/>
        </p:nvPicPr>
        <p:blipFill>
          <a:blip r:embed="rId3"/>
          <a:srcRect b="38667"/>
          <a:stretch>
            <a:fillRect/>
          </a:stretch>
        </p:blipFill>
        <p:spPr>
          <a:xfrm>
            <a:off x="342900" y="1348740"/>
            <a:ext cx="11628120" cy="5052060"/>
          </a:xfrm>
          <a:prstGeom prst="rect">
            <a:avLst/>
          </a:prstGeom>
        </p:spPr>
      </p:pic>
    </p:spTree>
    <p:extLst>
      <p:ext uri="{BB962C8B-B14F-4D97-AF65-F5344CB8AC3E}">
        <p14:creationId xmlns:p14="http://schemas.microsoft.com/office/powerpoint/2010/main" val="882620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91672" cy="731520"/>
          </a:xfrm>
          <a:noFill/>
          <a:ln/>
        </p:spPr>
        <p:txBody>
          <a:bodyPr wrap="square" lIns="0" tIns="0" rIns="0" bIns="0" rtlCol="0" anchor="ctr"/>
          <a:lstStyle/>
          <a:p>
            <a:r>
              <a:rPr lang="en-US" dirty="0"/>
              <a:t>Conclusion and future scope</a:t>
            </a:r>
          </a:p>
        </p:txBody>
      </p:sp>
      <p:sp>
        <p:nvSpPr>
          <p:cNvPr id="3" name="Slide Number Placeholder 0"/>
          <p:cNvSpPr>
            <a:spLocks noGrp="1"/>
          </p:cNvSpPr>
          <p:nvPr>
            <p:ph type="sldNum" sz="quarter" idx="4294967295"/>
          </p:nvPr>
        </p:nvSpPr>
        <p:spPr>
          <a:xfrm>
            <a:off x="11155680" y="6400800"/>
            <a:ext cx="502920" cy="274320"/>
          </a:xfr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fld id="{F7021451-1387-4CA6-816F-3879F97B5CBC}" type="slidenum">
              <a:rPr lang="en-US"/>
              <a:pPr/>
              <a:t>20</a:t>
            </a:fld>
            <a:endParaRPr lang="en-US"/>
          </a:p>
        </p:txBody>
      </p:sp>
      <p:sp>
        <p:nvSpPr>
          <p:cNvPr id="4" name="Text 1"/>
          <p:cNvSpPr txBox="1"/>
          <p:nvPr/>
        </p:nvSpPr>
        <p:spPr>
          <a:xfrm>
            <a:off x="548640" y="1280160"/>
            <a:ext cx="5303520" cy="411480"/>
          </a:xfrm>
          <a:prstGeom prst="rect">
            <a:avLst/>
          </a:prstGeom>
          <a:noFill/>
          <a:ln/>
        </p:spPr>
        <p:txBody>
          <a:bodyPr wrap="square" lIns="0" tIns="0" rIns="0" bIns="0" rtlCol="0" anchor="t"/>
          <a:lstStyle/>
          <a:p>
            <a:pPr marL="0" indent="0">
              <a:spcAft>
                <a:spcPts val="400"/>
              </a:spcAft>
              <a:buNone/>
            </a:pPr>
            <a:r>
              <a:rPr lang="en-US" sz="2000" b="1" dirty="0">
                <a:solidFill>
                  <a:schemeClr val="tx1"/>
                </a:solidFill>
              </a:rPr>
              <a:t>Conclusion</a:t>
            </a:r>
            <a:endParaRPr lang="en-US" sz="2000" dirty="0"/>
          </a:p>
        </p:txBody>
      </p:sp>
      <p:sp>
        <p:nvSpPr>
          <p:cNvPr id="5" name="Text 2"/>
          <p:cNvSpPr txBox="1"/>
          <p:nvPr/>
        </p:nvSpPr>
        <p:spPr>
          <a:xfrm>
            <a:off x="548640" y="1783080"/>
            <a:ext cx="5303520" cy="4206240"/>
          </a:xfrm>
          <a:prstGeom prst="rect">
            <a:avLst/>
          </a:prstGeom>
          <a:noFill/>
          <a:ln/>
        </p:spPr>
        <p:txBody>
          <a:bodyPr wrap="square" lIns="0" tIns="0" rIns="0" bIns="0" rtlCol="0" anchor="t"/>
          <a:lstStyle/>
          <a:p>
            <a:pPr marL="177800" indent="-177800">
              <a:spcAft>
                <a:spcPts val="600"/>
              </a:spcAft>
              <a:buSzPct val="100000"/>
              <a:buChar char="•"/>
            </a:pPr>
            <a:r>
              <a:rPr lang="en-US" sz="1500" b="1" dirty="0"/>
              <a:t>Complete UART controller in synthesizable </a:t>
            </a:r>
            <a:r>
              <a:rPr lang="en-US" sz="1500" b="1" dirty="0" err="1"/>
              <a:t>Verilog:top</a:t>
            </a:r>
            <a:r>
              <a:rPr lang="en-US" sz="1500" b="1" dirty="0"/>
              <a:t> module instantiates </a:t>
            </a:r>
            <a:r>
              <a:rPr lang="en-US" sz="1500" b="1" dirty="0" err="1"/>
              <a:t>baudrate</a:t>
            </a:r>
            <a:r>
              <a:rPr lang="en-US" sz="1500" b="1" dirty="0"/>
              <a:t>, </a:t>
            </a:r>
            <a:r>
              <a:rPr lang="en-US" sz="1500" b="1" dirty="0" err="1"/>
              <a:t>uart_tx</a:t>
            </a:r>
            <a:r>
              <a:rPr lang="en-US" sz="1500" b="1" dirty="0"/>
              <a:t> and </a:t>
            </a:r>
            <a:r>
              <a:rPr lang="en-US" sz="1500" b="1" dirty="0" err="1"/>
              <a:t>uart_rx</a:t>
            </a:r>
            <a:r>
              <a:rPr lang="en-US" sz="1500" b="1" dirty="0"/>
              <a:t>.</a:t>
            </a:r>
          </a:p>
          <a:p>
            <a:pPr marL="177800" indent="-177800">
              <a:spcAft>
                <a:spcPts val="600"/>
              </a:spcAft>
              <a:buSzPct val="100000"/>
              <a:buChar char="•"/>
            </a:pPr>
            <a:r>
              <a:rPr lang="en-US" sz="1500" b="1" dirty="0"/>
              <a:t>Accurate baud-rate timing from 50 MHz </a:t>
            </a:r>
            <a:r>
              <a:rPr lang="en-US" sz="1500" b="1" dirty="0" err="1"/>
              <a:t>clock:tx_tick</a:t>
            </a:r>
            <a:r>
              <a:rPr lang="en-US" sz="1500" b="1" dirty="0"/>
              <a:t> at 1 x baud and </a:t>
            </a:r>
            <a:r>
              <a:rPr lang="en-US" sz="1500" b="1" dirty="0" err="1"/>
              <a:t>rx_tick</a:t>
            </a:r>
            <a:r>
              <a:rPr lang="en-US" sz="1500" b="1" dirty="0"/>
              <a:t> at 16 x baud .(TX_DIV = 434, RX_DIV = 27 for 115200 baud).</a:t>
            </a:r>
          </a:p>
          <a:p>
            <a:pPr marL="177800" indent="-177800">
              <a:spcAft>
                <a:spcPts val="600"/>
              </a:spcAft>
              <a:buSzPct val="100000"/>
              <a:buChar char="•"/>
            </a:pPr>
            <a:r>
              <a:rPr lang="en-US" sz="1500" b="1" dirty="0"/>
              <a:t>8-bit 8-N-1 serial framing with optional parity: transmitter supports even/odd parity and sends LSB first.</a:t>
            </a:r>
          </a:p>
          <a:p>
            <a:pPr marL="177800" indent="-177800">
              <a:spcAft>
                <a:spcPts val="600"/>
              </a:spcAft>
              <a:buSzPct val="100000"/>
              <a:buChar char="•"/>
            </a:pPr>
            <a:r>
              <a:rPr lang="en-US" sz="1500" b="1" dirty="0"/>
              <a:t> Reliable reception with 16x </a:t>
            </a:r>
            <a:r>
              <a:rPr lang="en-US" sz="1500" b="1" dirty="0" err="1"/>
              <a:t>oversampling:receiver</a:t>
            </a:r>
            <a:r>
              <a:rPr lang="en-US" sz="1500" b="1" dirty="0"/>
              <a:t> performs false-start check and </a:t>
            </a:r>
            <a:r>
              <a:rPr lang="en-US" sz="1500" b="1" dirty="0" err="1"/>
              <a:t>detectsparity</a:t>
            </a:r>
            <a:r>
              <a:rPr lang="en-US" sz="1500" b="1" dirty="0"/>
              <a:t> error, frame error and break condition.</a:t>
            </a:r>
          </a:p>
          <a:p>
            <a:pPr marL="177800" indent="-177800">
              <a:spcAft>
                <a:spcPts val="600"/>
              </a:spcAft>
              <a:buSzPct val="100000"/>
              <a:buChar char="•"/>
            </a:pPr>
            <a:r>
              <a:rPr lang="en-US" sz="1500" b="1" dirty="0"/>
              <a:t>Loopback testbench for functional </a:t>
            </a:r>
            <a:r>
              <a:rPr lang="en-US" sz="1500" b="1" dirty="0" err="1"/>
              <a:t>verification:TX</a:t>
            </a:r>
            <a:r>
              <a:rPr lang="en-US" sz="1500" b="1" dirty="0"/>
              <a:t> connected to RX, successfully transmits and receives8'hA5 and 8'h3C with parity disabled.</a:t>
            </a:r>
            <a:endParaRPr lang="en-US" sz="1500" dirty="0"/>
          </a:p>
        </p:txBody>
      </p:sp>
      <p:sp>
        <p:nvSpPr>
          <p:cNvPr id="6" name="Text 3"/>
          <p:cNvSpPr txBox="1"/>
          <p:nvPr/>
        </p:nvSpPr>
        <p:spPr>
          <a:xfrm>
            <a:off x="6400800" y="1280160"/>
            <a:ext cx="5212080" cy="411480"/>
          </a:xfrm>
          <a:prstGeom prst="rect">
            <a:avLst/>
          </a:prstGeom>
          <a:noFill/>
          <a:ln/>
        </p:spPr>
        <p:txBody>
          <a:bodyPr wrap="square" lIns="0" tIns="0" rIns="0" bIns="0" rtlCol="0" anchor="t"/>
          <a:lstStyle/>
          <a:p>
            <a:pPr marL="0" indent="0">
              <a:spcAft>
                <a:spcPts val="400"/>
              </a:spcAft>
              <a:buNone/>
            </a:pPr>
            <a:r>
              <a:rPr lang="en-US" sz="2000" b="1" dirty="0">
                <a:solidFill>
                  <a:schemeClr val="tx1"/>
                </a:solidFill>
              </a:rPr>
              <a:t>Future scope</a:t>
            </a:r>
            <a:endParaRPr lang="en-US" sz="2000" dirty="0"/>
          </a:p>
        </p:txBody>
      </p:sp>
      <p:sp>
        <p:nvSpPr>
          <p:cNvPr id="7" name="Text 4"/>
          <p:cNvSpPr txBox="1"/>
          <p:nvPr/>
        </p:nvSpPr>
        <p:spPr>
          <a:xfrm>
            <a:off x="6400800" y="1783080"/>
            <a:ext cx="365760" cy="5943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latin typeface="Courier New" pitchFamily="34" charset="0"/>
                <a:ea typeface="Courier New" pitchFamily="34" charset="-122"/>
                <a:cs typeface="Courier New" pitchFamily="34" charset="-120"/>
              </a:rPr>
              <a:t>1</a:t>
            </a:r>
            <a:endParaRPr lang="en-US" sz="1500" dirty="0"/>
          </a:p>
        </p:txBody>
      </p:sp>
      <p:sp>
        <p:nvSpPr>
          <p:cNvPr id="8" name="Text 5"/>
          <p:cNvSpPr txBox="1"/>
          <p:nvPr/>
        </p:nvSpPr>
        <p:spPr>
          <a:xfrm>
            <a:off x="6606540" y="1778508"/>
            <a:ext cx="4828032" cy="594360"/>
          </a:xfrm>
          <a:prstGeom prst="rect">
            <a:avLst/>
          </a:prstGeom>
          <a:noFill/>
          <a:ln/>
        </p:spPr>
        <p:txBody>
          <a:bodyPr wrap="square" lIns="0" tIns="0" rIns="0" bIns="0" rtlCol="0" anchor="t"/>
          <a:lstStyle/>
          <a:p>
            <a:pPr>
              <a:spcAft>
                <a:spcPts val="400"/>
              </a:spcAft>
            </a:pPr>
            <a:r>
              <a:rPr lang="en-US" sz="1500" dirty="0"/>
              <a:t>Fractional baud-rate divider for lower baud error.</a:t>
            </a:r>
          </a:p>
        </p:txBody>
      </p:sp>
      <p:sp>
        <p:nvSpPr>
          <p:cNvPr id="9" name="Shape 6"/>
          <p:cNvSpPr/>
          <p:nvPr/>
        </p:nvSpPr>
        <p:spPr>
          <a:xfrm>
            <a:off x="6400800" y="2304288"/>
            <a:ext cx="5239512" cy="0"/>
          </a:xfrm>
          <a:prstGeom prst="line">
            <a:avLst/>
          </a:prstGeom>
          <a:noFill/>
          <a:ln w="9525">
            <a:solidFill>
              <a:srgbClr val="C9C5B9"/>
            </a:solidFill>
            <a:prstDash val="solid"/>
          </a:ln>
        </p:spPr>
        <p:txBody>
          <a:bodyPr/>
          <a:lstStyle/>
          <a:p>
            <a:endParaRPr lang="en-IN"/>
          </a:p>
        </p:txBody>
      </p:sp>
      <p:sp>
        <p:nvSpPr>
          <p:cNvPr id="10" name="Text 7"/>
          <p:cNvSpPr txBox="1"/>
          <p:nvPr/>
        </p:nvSpPr>
        <p:spPr>
          <a:xfrm>
            <a:off x="6400800" y="2377440"/>
            <a:ext cx="365760" cy="5943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latin typeface="Courier New" pitchFamily="34" charset="0"/>
                <a:ea typeface="Courier New" pitchFamily="34" charset="-122"/>
                <a:cs typeface="Courier New" pitchFamily="34" charset="-120"/>
              </a:rPr>
              <a:t>2</a:t>
            </a:r>
            <a:endParaRPr lang="en-US" sz="1500" dirty="0"/>
          </a:p>
        </p:txBody>
      </p:sp>
      <p:sp>
        <p:nvSpPr>
          <p:cNvPr id="11" name="Text 8"/>
          <p:cNvSpPr txBox="1"/>
          <p:nvPr/>
        </p:nvSpPr>
        <p:spPr>
          <a:xfrm>
            <a:off x="6812280" y="2377440"/>
            <a:ext cx="4828032" cy="594360"/>
          </a:xfrm>
          <a:prstGeom prst="rect">
            <a:avLst/>
          </a:prstGeom>
          <a:noFill/>
          <a:ln/>
        </p:spPr>
        <p:txBody>
          <a:bodyPr wrap="square" lIns="0" tIns="0" rIns="0" bIns="0" rtlCol="0" anchor="t"/>
          <a:lstStyle/>
          <a:p>
            <a:pPr>
              <a:spcAft>
                <a:spcPts val="400"/>
              </a:spcAft>
            </a:pPr>
            <a:r>
              <a:rPr lang="en-US" sz="1500" dirty="0"/>
              <a:t>Majority-vote sampling around the bit center to </a:t>
            </a:r>
            <a:r>
              <a:rPr lang="en-US" sz="1500" dirty="0" err="1"/>
              <a:t>improvenoise</a:t>
            </a:r>
            <a:r>
              <a:rPr lang="en-US" sz="1500" dirty="0"/>
              <a:t> tolerance.</a:t>
            </a:r>
          </a:p>
        </p:txBody>
      </p:sp>
      <p:sp>
        <p:nvSpPr>
          <p:cNvPr id="12" name="Shape 9"/>
          <p:cNvSpPr/>
          <p:nvPr/>
        </p:nvSpPr>
        <p:spPr>
          <a:xfrm>
            <a:off x="6400800" y="2898648"/>
            <a:ext cx="5239512" cy="0"/>
          </a:xfrm>
          <a:prstGeom prst="line">
            <a:avLst/>
          </a:prstGeom>
          <a:noFill/>
          <a:ln w="9525">
            <a:solidFill>
              <a:srgbClr val="C9C5B9"/>
            </a:solidFill>
            <a:prstDash val="solid"/>
          </a:ln>
        </p:spPr>
        <p:txBody>
          <a:bodyPr/>
          <a:lstStyle/>
          <a:p>
            <a:endParaRPr lang="en-IN"/>
          </a:p>
        </p:txBody>
      </p:sp>
      <p:sp>
        <p:nvSpPr>
          <p:cNvPr id="13" name="Text 10"/>
          <p:cNvSpPr txBox="1"/>
          <p:nvPr/>
        </p:nvSpPr>
        <p:spPr>
          <a:xfrm>
            <a:off x="6400800" y="2971800"/>
            <a:ext cx="365760" cy="5943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latin typeface="Courier New" pitchFamily="34" charset="0"/>
                <a:ea typeface="Courier New" pitchFamily="34" charset="-122"/>
                <a:cs typeface="Courier New" pitchFamily="34" charset="-120"/>
              </a:rPr>
              <a:t>3</a:t>
            </a:r>
            <a:endParaRPr lang="en-US" sz="1500" dirty="0"/>
          </a:p>
        </p:txBody>
      </p:sp>
      <p:sp>
        <p:nvSpPr>
          <p:cNvPr id="14" name="Text 11"/>
          <p:cNvSpPr txBox="1"/>
          <p:nvPr/>
        </p:nvSpPr>
        <p:spPr>
          <a:xfrm>
            <a:off x="6812280" y="2971800"/>
            <a:ext cx="4828032" cy="594360"/>
          </a:xfrm>
          <a:prstGeom prst="rect">
            <a:avLst/>
          </a:prstGeom>
          <a:noFill/>
          <a:ln/>
        </p:spPr>
        <p:txBody>
          <a:bodyPr wrap="square" lIns="0" tIns="0" rIns="0" bIns="0" rtlCol="0" anchor="t"/>
          <a:lstStyle/>
          <a:p>
            <a:pPr>
              <a:spcAft>
                <a:spcPts val="400"/>
              </a:spcAft>
            </a:pPr>
            <a:r>
              <a:rPr lang="en-US" sz="1500" dirty="0"/>
              <a:t>Input synchronizer for asynchronous RXD to </a:t>
            </a:r>
            <a:r>
              <a:rPr lang="en-US" sz="1500" dirty="0" err="1"/>
              <a:t>improvemetastability</a:t>
            </a:r>
            <a:r>
              <a:rPr lang="en-US" sz="1500" dirty="0"/>
              <a:t> robustness.</a:t>
            </a:r>
          </a:p>
        </p:txBody>
      </p:sp>
      <p:sp>
        <p:nvSpPr>
          <p:cNvPr id="15" name="Shape 12"/>
          <p:cNvSpPr/>
          <p:nvPr/>
        </p:nvSpPr>
        <p:spPr>
          <a:xfrm>
            <a:off x="6400800" y="3493008"/>
            <a:ext cx="5239512" cy="0"/>
          </a:xfrm>
          <a:prstGeom prst="line">
            <a:avLst/>
          </a:prstGeom>
          <a:noFill/>
          <a:ln w="9525">
            <a:solidFill>
              <a:srgbClr val="C9C5B9"/>
            </a:solidFill>
            <a:prstDash val="solid"/>
          </a:ln>
        </p:spPr>
        <p:txBody>
          <a:bodyPr/>
          <a:lstStyle/>
          <a:p>
            <a:endParaRPr lang="en-IN"/>
          </a:p>
        </p:txBody>
      </p:sp>
      <p:sp>
        <p:nvSpPr>
          <p:cNvPr id="16" name="Text 13"/>
          <p:cNvSpPr txBox="1"/>
          <p:nvPr/>
        </p:nvSpPr>
        <p:spPr>
          <a:xfrm>
            <a:off x="6400800" y="3566160"/>
            <a:ext cx="365760" cy="5943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latin typeface="Courier New" pitchFamily="34" charset="0"/>
                <a:ea typeface="Courier New" pitchFamily="34" charset="-122"/>
                <a:cs typeface="Courier New" pitchFamily="34" charset="-120"/>
              </a:rPr>
              <a:t>4</a:t>
            </a:r>
            <a:endParaRPr lang="en-US" sz="1500" dirty="0"/>
          </a:p>
        </p:txBody>
      </p:sp>
      <p:sp>
        <p:nvSpPr>
          <p:cNvPr id="17" name="Text 14"/>
          <p:cNvSpPr txBox="1"/>
          <p:nvPr/>
        </p:nvSpPr>
        <p:spPr>
          <a:xfrm>
            <a:off x="6812280" y="3566160"/>
            <a:ext cx="4828032" cy="594360"/>
          </a:xfrm>
          <a:prstGeom prst="rect">
            <a:avLst/>
          </a:prstGeom>
          <a:noFill/>
          <a:ln/>
        </p:spPr>
        <p:txBody>
          <a:bodyPr wrap="square" lIns="0" tIns="0" rIns="0" bIns="0" rtlCol="0" anchor="t"/>
          <a:lstStyle/>
          <a:p>
            <a:pPr>
              <a:spcAft>
                <a:spcPts val="400"/>
              </a:spcAft>
            </a:pPr>
            <a:r>
              <a:rPr lang="en-US" sz="1500" dirty="0"/>
              <a:t>Configurable data bits and stop bits(e.g., 5-9 data bits, 1/1.5/2 stop bits).</a:t>
            </a:r>
          </a:p>
        </p:txBody>
      </p:sp>
      <p:sp>
        <p:nvSpPr>
          <p:cNvPr id="18" name="Shape 15"/>
          <p:cNvSpPr/>
          <p:nvPr/>
        </p:nvSpPr>
        <p:spPr>
          <a:xfrm>
            <a:off x="6400800" y="4087368"/>
            <a:ext cx="5239512" cy="0"/>
          </a:xfrm>
          <a:prstGeom prst="line">
            <a:avLst/>
          </a:prstGeom>
          <a:noFill/>
          <a:ln w="9525">
            <a:solidFill>
              <a:srgbClr val="C9C5B9"/>
            </a:solidFill>
            <a:prstDash val="solid"/>
          </a:ln>
        </p:spPr>
        <p:txBody>
          <a:bodyPr/>
          <a:lstStyle/>
          <a:p>
            <a:endParaRPr lang="en-IN"/>
          </a:p>
        </p:txBody>
      </p:sp>
      <p:sp>
        <p:nvSpPr>
          <p:cNvPr id="19" name="Text 16"/>
          <p:cNvSpPr txBox="1"/>
          <p:nvPr/>
        </p:nvSpPr>
        <p:spPr>
          <a:xfrm>
            <a:off x="6400800" y="4160520"/>
            <a:ext cx="365760" cy="5943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latin typeface="Courier New" pitchFamily="34" charset="0"/>
                <a:ea typeface="Courier New" pitchFamily="34" charset="-122"/>
                <a:cs typeface="Courier New" pitchFamily="34" charset="-120"/>
              </a:rPr>
              <a:t>5</a:t>
            </a:r>
            <a:endParaRPr lang="en-US" sz="1500" dirty="0"/>
          </a:p>
        </p:txBody>
      </p:sp>
      <p:sp>
        <p:nvSpPr>
          <p:cNvPr id="20" name="Text 17"/>
          <p:cNvSpPr txBox="1"/>
          <p:nvPr/>
        </p:nvSpPr>
        <p:spPr>
          <a:xfrm>
            <a:off x="6812280" y="4160520"/>
            <a:ext cx="4828032" cy="594360"/>
          </a:xfrm>
          <a:prstGeom prst="rect">
            <a:avLst/>
          </a:prstGeom>
          <a:noFill/>
          <a:ln/>
        </p:spPr>
        <p:txBody>
          <a:bodyPr wrap="square" lIns="0" tIns="0" rIns="0" bIns="0" rtlCol="0" anchor="t"/>
          <a:lstStyle/>
          <a:p>
            <a:pPr>
              <a:spcAft>
                <a:spcPts val="400"/>
              </a:spcAft>
            </a:pPr>
            <a:r>
              <a:rPr lang="en-US" sz="1500" dirty="0"/>
              <a:t>FIFO buffering for continuous data transfer.</a:t>
            </a:r>
          </a:p>
        </p:txBody>
      </p:sp>
      <p:sp>
        <p:nvSpPr>
          <p:cNvPr id="21" name="Shape 18"/>
          <p:cNvSpPr/>
          <p:nvPr/>
        </p:nvSpPr>
        <p:spPr>
          <a:xfrm>
            <a:off x="6400800" y="4681728"/>
            <a:ext cx="5239512" cy="0"/>
          </a:xfrm>
          <a:prstGeom prst="line">
            <a:avLst/>
          </a:prstGeom>
          <a:noFill/>
          <a:ln w="9525">
            <a:solidFill>
              <a:srgbClr val="C9C5B9"/>
            </a:solidFill>
            <a:prstDash val="solid"/>
          </a:ln>
        </p:spPr>
        <p:txBody>
          <a:bodyPr/>
          <a:lstStyle/>
          <a:p>
            <a:endParaRPr lang="en-IN"/>
          </a:p>
        </p:txBody>
      </p:sp>
      <p:sp>
        <p:nvSpPr>
          <p:cNvPr id="22" name="Text 19"/>
          <p:cNvSpPr txBox="1"/>
          <p:nvPr/>
        </p:nvSpPr>
        <p:spPr>
          <a:xfrm>
            <a:off x="6400800" y="4754880"/>
            <a:ext cx="365760" cy="5943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latin typeface="Courier New" pitchFamily="34" charset="0"/>
                <a:ea typeface="Courier New" pitchFamily="34" charset="-122"/>
                <a:cs typeface="Courier New" pitchFamily="34" charset="-120"/>
              </a:rPr>
              <a:t>6</a:t>
            </a:r>
            <a:endParaRPr lang="en-US" sz="1500" dirty="0"/>
          </a:p>
        </p:txBody>
      </p:sp>
      <p:sp>
        <p:nvSpPr>
          <p:cNvPr id="23" name="Text 20"/>
          <p:cNvSpPr txBox="1"/>
          <p:nvPr/>
        </p:nvSpPr>
        <p:spPr>
          <a:xfrm>
            <a:off x="6812280" y="4754880"/>
            <a:ext cx="4828032" cy="594360"/>
          </a:xfrm>
          <a:prstGeom prst="rect">
            <a:avLst/>
          </a:prstGeom>
          <a:noFill/>
          <a:ln/>
        </p:spPr>
        <p:txBody>
          <a:bodyPr wrap="square" lIns="0" tIns="0" rIns="0" bIns="0" rtlCol="0" anchor="t"/>
          <a:lstStyle/>
          <a:p>
            <a:pPr>
              <a:spcAft>
                <a:spcPts val="400"/>
              </a:spcAft>
            </a:pPr>
            <a:r>
              <a:rPr lang="en-US" sz="1500" dirty="0"/>
              <a:t>Expanded verification including parity enabled </a:t>
            </a:r>
            <a:r>
              <a:rPr lang="en-US" sz="1500" dirty="0" err="1"/>
              <a:t>cases,framing</a:t>
            </a:r>
            <a:r>
              <a:rPr lang="en-US" sz="1500" dirty="0"/>
              <a:t> error, break detection and clock-skew scenarios.</a:t>
            </a:r>
          </a:p>
        </p:txBody>
      </p:sp>
      <p:sp>
        <p:nvSpPr>
          <p:cNvPr id="24" name="Shape 21"/>
          <p:cNvSpPr/>
          <p:nvPr/>
        </p:nvSpPr>
        <p:spPr>
          <a:xfrm>
            <a:off x="6400800" y="5276088"/>
            <a:ext cx="5239512" cy="0"/>
          </a:xfrm>
          <a:prstGeom prst="line">
            <a:avLst/>
          </a:prstGeom>
          <a:noFill/>
          <a:ln w="9525">
            <a:solidFill>
              <a:srgbClr val="C9C5B9"/>
            </a:solidFill>
            <a:prstDash val="solid"/>
          </a:ln>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txBox="1"/>
          <p:nvPr/>
        </p:nvSpPr>
        <p:spPr>
          <a:xfrm>
            <a:off x="731520" y="1371600"/>
            <a:ext cx="10058400" cy="1280160"/>
          </a:xfrm>
          <a:prstGeom prst="rect">
            <a:avLst/>
          </a:prstGeom>
          <a:noFill/>
          <a:ln/>
        </p:spPr>
        <p:txBody>
          <a:bodyPr wrap="square" lIns="0" tIns="0" rIns="0" bIns="0" rtlCol="0" anchor="t"/>
          <a:lstStyle/>
          <a:p>
            <a:pPr marL="0" indent="0">
              <a:spcAft>
                <a:spcPts val="400"/>
              </a:spcAft>
              <a:buNone/>
            </a:pPr>
            <a:r>
              <a:rPr lang="en-US" sz="6000" b="1" dirty="0">
                <a:solidFill>
                  <a:schemeClr val="bg2"/>
                </a:solidFill>
                <a:latin typeface="Arial" pitchFamily="34" charset="0"/>
                <a:ea typeface="Arial" pitchFamily="34" charset="-122"/>
                <a:cs typeface="Arial" pitchFamily="34" charset="-120"/>
              </a:rPr>
              <a:t>Thank you</a:t>
            </a:r>
            <a:endParaRPr lang="en-US" sz="6000" dirty="0"/>
          </a:p>
        </p:txBody>
      </p:sp>
      <p:sp>
        <p:nvSpPr>
          <p:cNvPr id="4" name="Text 1"/>
          <p:cNvSpPr txBox="1"/>
          <p:nvPr/>
        </p:nvSpPr>
        <p:spPr>
          <a:xfrm>
            <a:off x="731520" y="2697480"/>
            <a:ext cx="10058400" cy="548640"/>
          </a:xfrm>
          <a:prstGeom prst="rect">
            <a:avLst/>
          </a:prstGeom>
          <a:noFill/>
          <a:ln/>
        </p:spPr>
        <p:txBody>
          <a:bodyPr wrap="square" lIns="0" tIns="0" rIns="0" bIns="0" rtlCol="0" anchor="t"/>
          <a:lstStyle/>
          <a:p>
            <a:pPr marL="0" indent="0">
              <a:spcAft>
                <a:spcPts val="400"/>
              </a:spcAft>
              <a:buNone/>
            </a:pPr>
            <a:r>
              <a:rPr lang="en-US" sz="2200" dirty="0">
                <a:solidFill>
                  <a:schemeClr val="accent6"/>
                </a:solidFill>
              </a:rPr>
              <a:t>Questions and suggestions are welcome.</a:t>
            </a:r>
            <a:endParaRPr lang="en-US" sz="2200" dirty="0"/>
          </a:p>
        </p:txBody>
      </p:sp>
      <p:sp>
        <p:nvSpPr>
          <p:cNvPr id="5" name="Shape 2"/>
          <p:cNvSpPr/>
          <p:nvPr/>
        </p:nvSpPr>
        <p:spPr>
          <a:xfrm>
            <a:off x="731520" y="4023360"/>
            <a:ext cx="10725912" cy="0"/>
          </a:xfrm>
          <a:prstGeom prst="line">
            <a:avLst/>
          </a:prstGeom>
          <a:noFill/>
          <a:ln w="9525">
            <a:solidFill>
              <a:srgbClr val="5A5E5B"/>
            </a:solidFill>
            <a:prstDash val="solid"/>
          </a:ln>
        </p:spPr>
        <p:txBody>
          <a:bodyPr/>
          <a:lstStyle/>
          <a:p>
            <a:endParaRPr lang="en-IN"/>
          </a:p>
        </p:txBody>
      </p:sp>
      <p:sp>
        <p:nvSpPr>
          <p:cNvPr id="6" name="Text 3"/>
          <p:cNvSpPr txBox="1"/>
          <p:nvPr/>
        </p:nvSpPr>
        <p:spPr>
          <a:xfrm>
            <a:off x="731520" y="4251960"/>
            <a:ext cx="3383280" cy="1188720"/>
          </a:xfrm>
          <a:prstGeom prst="rect">
            <a:avLst/>
          </a:prstGeom>
          <a:noFill/>
          <a:ln/>
        </p:spPr>
        <p:txBody>
          <a:bodyPr wrap="square" lIns="0" tIns="0" rIns="0" bIns="0" rtlCol="0" anchor="t"/>
          <a:lstStyle/>
          <a:p>
            <a:pPr marL="0" indent="0">
              <a:spcAft>
                <a:spcPts val="400"/>
              </a:spcAft>
              <a:buNone/>
            </a:pPr>
            <a:r>
              <a:rPr lang="en-US" sz="1800" b="1" dirty="0">
                <a:solidFill>
                  <a:schemeClr val="accent3"/>
                </a:solidFill>
              </a:rPr>
              <a:t>Agree on time</a:t>
            </a:r>
            <a:endParaRPr lang="en-US" sz="1500" dirty="0"/>
          </a:p>
          <a:p>
            <a:pPr marL="0" indent="0">
              <a:spcAft>
                <a:spcPts val="400"/>
              </a:spcAft>
              <a:buNone/>
            </a:pPr>
            <a:r>
              <a:rPr lang="en-US" sz="1500" dirty="0">
                <a:solidFill>
                  <a:schemeClr val="accent6"/>
                </a:solidFill>
              </a:rPr>
              <a:t>Same baud rate, oversampling, start-bit resync</a:t>
            </a:r>
            <a:endParaRPr lang="en-US" sz="1500" dirty="0"/>
          </a:p>
        </p:txBody>
      </p:sp>
      <p:sp>
        <p:nvSpPr>
          <p:cNvPr id="7" name="Text 4"/>
          <p:cNvSpPr txBox="1"/>
          <p:nvPr/>
        </p:nvSpPr>
        <p:spPr>
          <a:xfrm>
            <a:off x="4343400" y="4251960"/>
            <a:ext cx="3383280" cy="1188720"/>
          </a:xfrm>
          <a:prstGeom prst="rect">
            <a:avLst/>
          </a:prstGeom>
          <a:noFill/>
          <a:ln/>
        </p:spPr>
        <p:txBody>
          <a:bodyPr wrap="square" lIns="0" tIns="0" rIns="0" bIns="0" rtlCol="0" anchor="t"/>
          <a:lstStyle/>
          <a:p>
            <a:pPr marL="0" indent="0">
              <a:spcAft>
                <a:spcPts val="400"/>
              </a:spcAft>
              <a:buNone/>
            </a:pPr>
            <a:r>
              <a:rPr lang="en-US" sz="1800" b="1" dirty="0">
                <a:solidFill>
                  <a:schemeClr val="accent3"/>
                </a:solidFill>
              </a:rPr>
              <a:t>Frame every byte</a:t>
            </a:r>
            <a:endParaRPr lang="en-US" sz="1500" dirty="0"/>
          </a:p>
          <a:p>
            <a:pPr marL="0" indent="0">
              <a:spcAft>
                <a:spcPts val="400"/>
              </a:spcAft>
              <a:buNone/>
            </a:pPr>
            <a:r>
              <a:rPr lang="en-US" sz="1500" dirty="0">
                <a:solidFill>
                  <a:schemeClr val="accent6"/>
                </a:solidFill>
              </a:rPr>
              <a:t>Start, data, parity, stop</a:t>
            </a:r>
            <a:endParaRPr lang="en-US" sz="1500" dirty="0"/>
          </a:p>
        </p:txBody>
      </p:sp>
      <p:sp>
        <p:nvSpPr>
          <p:cNvPr id="8" name="Text 5"/>
          <p:cNvSpPr txBox="1"/>
          <p:nvPr/>
        </p:nvSpPr>
        <p:spPr>
          <a:xfrm>
            <a:off x="7955280" y="4251960"/>
            <a:ext cx="3383280" cy="1188720"/>
          </a:xfrm>
          <a:prstGeom prst="rect">
            <a:avLst/>
          </a:prstGeom>
          <a:noFill/>
          <a:ln/>
        </p:spPr>
        <p:txBody>
          <a:bodyPr wrap="square" lIns="0" tIns="0" rIns="0" bIns="0" rtlCol="0" anchor="t"/>
          <a:lstStyle/>
          <a:p>
            <a:pPr marL="0" indent="0">
              <a:spcAft>
                <a:spcPts val="400"/>
              </a:spcAft>
              <a:buNone/>
            </a:pPr>
            <a:r>
              <a:rPr lang="en-US" sz="1800" b="1" dirty="0">
                <a:solidFill>
                  <a:schemeClr val="accent3"/>
                </a:solidFill>
              </a:rPr>
              <a:t>Check everything</a:t>
            </a:r>
            <a:endParaRPr lang="en-US" sz="1500" dirty="0"/>
          </a:p>
          <a:p>
            <a:pPr marL="0" indent="0">
              <a:spcAft>
                <a:spcPts val="400"/>
              </a:spcAft>
              <a:buNone/>
            </a:pPr>
            <a:r>
              <a:rPr lang="en-US" sz="1500" dirty="0">
                <a:solidFill>
                  <a:schemeClr val="accent6"/>
                </a:solidFill>
              </a:rPr>
              <a:t>Four error flags and a self-checking testbench</a:t>
            </a:r>
            <a:endParaRPr lang="en-US" sz="1500" dirty="0"/>
          </a:p>
        </p:txBody>
      </p:sp>
    </p:spTree>
  </p:cSld>
  <p:clrMapOvr>
    <a:masterClrMapping/>
  </p:clrMapOvr>
</p:sld>
</file>

<file path=ppt/theme/theme1.xml><?xml version="1.0" encoding="utf-8"?>
<a:theme xmlns:a="http://schemas.openxmlformats.org/drawingml/2006/main" name="UART Review">
  <a:themeElements>
    <a:clrScheme name="UART Review">
      <a:dk1>
        <a:srgbClr val="24272B"/>
      </a:dk1>
      <a:lt1>
        <a:srgbClr val="FFFFFF"/>
      </a:lt1>
      <a:dk2>
        <a:srgbClr val="5A5E5B"/>
      </a:dk2>
      <a:lt2>
        <a:srgbClr val="EDEBE4"/>
      </a:lt2>
      <a:accent1>
        <a:srgbClr val="4F6F5A"/>
      </a:accent1>
      <a:accent2>
        <a:srgbClr val="9A5B2E"/>
      </a:accent2>
      <a:accent3>
        <a:srgbClr val="CBD6C9"/>
      </a:accent3>
      <a:accent4>
        <a:srgbClr val="EBD3C0"/>
      </a:accent4>
      <a:accent5>
        <a:srgbClr val="E2DFD5"/>
      </a:accent5>
      <a:accent6>
        <a:srgbClr val="C9C5B9"/>
      </a:accent6>
      <a:hlink>
        <a:srgbClr val="4F6F5A"/>
      </a:hlink>
      <a:folHlink>
        <a:srgbClr val="5A5E5B"/>
      </a:folHlink>
    </a:clrScheme>
    <a:fontScheme name="UART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TotalTime>
  <Words>5182</Words>
  <Application>Microsoft Office PowerPoint</Application>
  <PresentationFormat>Widescreen</PresentationFormat>
  <Paragraphs>441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UART Review</vt:lpstr>
      <vt:lpstr>PowerPoint Presentation</vt:lpstr>
      <vt:lpstr>Outline of the presentation</vt:lpstr>
      <vt:lpstr>What is a UART?</vt:lpstr>
      <vt:lpstr>How does UART work without a clock?</vt:lpstr>
      <vt:lpstr>The UART frame(data frame): 0x4B, 8E1, LSB first</vt:lpstr>
      <vt:lpstr>Each field in the frame has one job</vt:lpstr>
      <vt:lpstr>Baud rate and its generation</vt:lpstr>
      <vt:lpstr>Top-level architecture</vt:lpstr>
      <vt:lpstr>Module 1: baud generator (baud_gen.v)</vt:lpstr>
      <vt:lpstr>Module 2: transmitter state machine</vt:lpstr>
      <vt:lpstr>Transmitter RTL (uart_tx.v)</vt:lpstr>
      <vt:lpstr>Module 3: receiver oversampling and clock tolerance</vt:lpstr>
      <vt:lpstr>Receiver RTL (uart_rx.v)</vt:lpstr>
      <vt:lpstr>Parity generation and checking</vt:lpstr>
      <vt:lpstr>Module 4: top-level integration (uart_top.v)</vt:lpstr>
      <vt:lpstr>Verification plan and test cases</vt:lpstr>
      <vt:lpstr>Testbench code (tb_uart.v)</vt:lpstr>
      <vt:lpstr>Simulation results</vt:lpstr>
      <vt:lpstr>Simulation results</vt:lpstr>
      <vt:lpstr>Conclusion and future scope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Verification of a UART Controller in Verilog HDL</dc:title>
  <dc:subject>Project review</dc:subject>
  <dc:creator>PptxGenJS</dc:creator>
  <cp:lastModifiedBy>Hemanth B R</cp:lastModifiedBy>
  <cp:revision>2</cp:revision>
  <cp:lastPrinted>2026-10-07T17:17:37Z</cp:lastPrinted>
  <dcterms:created xsi:type="dcterms:W3CDTF">2026-10-07T12:39:57Z</dcterms:created>
  <dcterms:modified xsi:type="dcterms:W3CDTF">2026-10-07T19:12:22Z</dcterms:modified>
</cp:coreProperties>
</file>